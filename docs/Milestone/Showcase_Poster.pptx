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</p:sldIdLst>
  <p:sldSz cx="32918400" cy="43891200"/>
  <p:notesSz cx="6858000" cy="9144000"/>
  <p:defaultTextStyle>
    <a:defPPr>
      <a:defRPr lang="en-US"/>
    </a:defPPr>
    <a:lvl1pPr marL="0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1pPr>
    <a:lvl2pPr marL="1843430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2pPr>
    <a:lvl3pPr marL="3686861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3pPr>
    <a:lvl4pPr marL="5530291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4pPr>
    <a:lvl5pPr marL="7373722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5pPr>
    <a:lvl6pPr marL="9217152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6pPr>
    <a:lvl7pPr marL="11060582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7pPr>
    <a:lvl8pPr marL="12904013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8pPr>
    <a:lvl9pPr marL="14747443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2171"/>
    <a:srgbClr val="441D61"/>
    <a:srgbClr val="2803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5" d="100"/>
          <a:sy n="25" d="100"/>
        </p:scale>
        <p:origin x="2184" y="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rPr lang="en-US" sz="2400" b="1">
                <a:solidFill>
                  <a:srgbClr val="280334"/>
                </a:solidFill>
                <a:latin typeface="Calibri"/>
              </a:rPr>
              <a:t>Test cases per module — all passed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Passed</c:v>
                </c:pt>
              </c:strCache>
            </c:strRef>
          </c:tx>
          <c:spPr>
            <a:solidFill>
              <a:srgbClr val="5A2D82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000" b="1">
                    <a:solidFill>
                      <a:srgbClr val="280334"/>
                    </a:solidFill>
                    <a:latin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Infrastructure</c:v>
                </c:pt>
                <c:pt idx="1">
                  <c:v>SSH tunnel</c:v>
                </c:pt>
                <c:pt idx="2">
                  <c:v>Admin</c:v>
                </c:pt>
                <c:pt idx="3">
                  <c:v>Relay gateway</c:v>
                </c:pt>
                <c:pt idx="4">
                  <c:v>Kill switch</c:v>
                </c:pt>
                <c:pt idx="5">
                  <c:v>WireGuard tunnel</c:v>
                </c:pt>
                <c:pt idx="6">
                  <c:v>Sessions</c:v>
                </c:pt>
                <c:pt idx="7">
                  <c:v>Authentication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2.0</c:v>
                </c:pt>
                <c:pt idx="1">
                  <c:v>8.0</c:v>
                </c:pt>
                <c:pt idx="2">
                  <c:v>4.0</c:v>
                </c:pt>
                <c:pt idx="3">
                  <c:v>2.0</c:v>
                </c:pt>
                <c:pt idx="4">
                  <c:v>2.0</c:v>
                </c:pt>
                <c:pt idx="5">
                  <c:v>8</c:v>
                </c:pt>
                <c:pt idx="6">
                  <c:v>7.0</c:v>
                </c:pt>
                <c:pt idx="7">
                  <c:v>10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DA9-4C2B-8E6A-FFD52D17FB8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D9CCE8"/>
            </a:solidFill>
          </a:ln>
        </c:spPr>
        <c:txPr>
          <a:bodyPr/>
          <a:lstStyle/>
          <a:p>
            <a:pPr>
              <a:defRPr sz="2000">
                <a:solidFill>
                  <a:srgbClr val="1F1F1F"/>
                </a:solidFill>
                <a:latin typeface="Calibr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1.5"/>
          <c:min val="0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7183123"/>
            <a:ext cx="27980640" cy="15280640"/>
          </a:xfrm>
        </p:spPr>
        <p:txBody>
          <a:bodyPr anchor="b"/>
          <a:lstStyle>
            <a:lvl1pPr algn="ctr">
              <a:defRPr sz="2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23053043"/>
            <a:ext cx="24688800" cy="10596877"/>
          </a:xfrm>
        </p:spPr>
        <p:txBody>
          <a:bodyPr/>
          <a:lstStyle>
            <a:lvl1pPr marL="0" indent="0" algn="ctr">
              <a:buNone/>
              <a:defRPr sz="8640"/>
            </a:lvl1pPr>
            <a:lvl2pPr marL="1645920" indent="0" algn="ctr">
              <a:buNone/>
              <a:defRPr sz="7200"/>
            </a:lvl2pPr>
            <a:lvl3pPr marL="3291840" indent="0" algn="ctr">
              <a:buNone/>
              <a:defRPr sz="6480"/>
            </a:lvl3pPr>
            <a:lvl4pPr marL="4937760" indent="0" algn="ctr">
              <a:buNone/>
              <a:defRPr sz="5760"/>
            </a:lvl4pPr>
            <a:lvl5pPr marL="6583680" indent="0" algn="ctr">
              <a:buNone/>
              <a:defRPr sz="5760"/>
            </a:lvl5pPr>
            <a:lvl6pPr marL="8229600" indent="0" algn="ctr">
              <a:buNone/>
              <a:defRPr sz="5760"/>
            </a:lvl6pPr>
            <a:lvl7pPr marL="9875520" indent="0" algn="ctr">
              <a:buNone/>
              <a:defRPr sz="5760"/>
            </a:lvl7pPr>
            <a:lvl8pPr marL="11521440" indent="0" algn="ctr">
              <a:buNone/>
              <a:defRPr sz="5760"/>
            </a:lvl8pPr>
            <a:lvl9pPr marL="13167360" indent="0" algn="ctr">
              <a:buNone/>
              <a:defRPr sz="5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1913-F300-43E2-BF3B-5FB217FBE680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773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1913-F300-43E2-BF3B-5FB217FBE680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93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5997" y="10942333"/>
            <a:ext cx="28392120" cy="18257517"/>
          </a:xfrm>
        </p:spPr>
        <p:txBody>
          <a:bodyPr anchor="b"/>
          <a:lstStyle>
            <a:lvl1pPr>
              <a:defRPr sz="2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5997" y="29372573"/>
            <a:ext cx="28392120" cy="9601197"/>
          </a:xfrm>
        </p:spPr>
        <p:txBody>
          <a:bodyPr/>
          <a:lstStyle>
            <a:lvl1pPr marL="0" indent="0">
              <a:buNone/>
              <a:defRPr sz="8640">
                <a:solidFill>
                  <a:schemeClr val="tx1"/>
                </a:solidFill>
              </a:defRPr>
            </a:lvl1pPr>
            <a:lvl2pPr marL="1645920" indent="0">
              <a:buNone/>
              <a:defRPr sz="7200">
                <a:solidFill>
                  <a:schemeClr val="tx1">
                    <a:tint val="75000"/>
                  </a:schemeClr>
                </a:solidFill>
              </a:defRPr>
            </a:lvl2pPr>
            <a:lvl3pPr marL="3291840" indent="0">
              <a:buNone/>
              <a:defRPr sz="6480">
                <a:solidFill>
                  <a:schemeClr val="tx1">
                    <a:tint val="75000"/>
                  </a:schemeClr>
                </a:solidFill>
              </a:defRPr>
            </a:lvl3pPr>
            <a:lvl4pPr marL="49377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4pPr>
            <a:lvl5pPr marL="658368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5pPr>
            <a:lvl6pPr marL="822960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6pPr>
            <a:lvl7pPr marL="987552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7pPr>
            <a:lvl8pPr marL="1152144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8pPr>
            <a:lvl9pPr marL="131673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1913-F300-43E2-BF3B-5FB217FBE680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259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63140" y="11684000"/>
            <a:ext cx="13990320" cy="27848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664940" y="11684000"/>
            <a:ext cx="13990320" cy="27848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1913-F300-43E2-BF3B-5FB217FBE680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279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336810"/>
            <a:ext cx="28392120" cy="848360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7431" y="10759443"/>
            <a:ext cx="13926024" cy="5273037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7431" y="16032480"/>
            <a:ext cx="13926024" cy="23581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664942" y="10759443"/>
            <a:ext cx="13994608" cy="5273037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664942" y="16032480"/>
            <a:ext cx="13994608" cy="23581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1913-F300-43E2-BF3B-5FB217FBE680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852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1913-F300-43E2-BF3B-5FB217FBE680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003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1913-F300-43E2-BF3B-5FB217FBE680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706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926080"/>
            <a:ext cx="10617041" cy="1024128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4608" y="6319530"/>
            <a:ext cx="16664940" cy="31191200"/>
          </a:xfrm>
        </p:spPr>
        <p:txBody>
          <a:bodyPr/>
          <a:lstStyle>
            <a:lvl1pPr>
              <a:defRPr sz="11520"/>
            </a:lvl1pPr>
            <a:lvl2pPr>
              <a:defRPr sz="10080"/>
            </a:lvl2pPr>
            <a:lvl3pPr>
              <a:defRPr sz="8640"/>
            </a:lvl3pPr>
            <a:lvl4pPr>
              <a:defRPr sz="7200"/>
            </a:lvl4pPr>
            <a:lvl5pPr>
              <a:defRPr sz="7200"/>
            </a:lvl5pPr>
            <a:lvl6pPr>
              <a:defRPr sz="7200"/>
            </a:lvl6pPr>
            <a:lvl7pPr>
              <a:defRPr sz="7200"/>
            </a:lvl7pPr>
            <a:lvl8pPr>
              <a:defRPr sz="7200"/>
            </a:lvl8pPr>
            <a:lvl9pPr>
              <a:defRPr sz="7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13167360"/>
            <a:ext cx="10617041" cy="24394163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1913-F300-43E2-BF3B-5FB217FBE680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831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926080"/>
            <a:ext cx="10617041" cy="1024128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994608" y="6319530"/>
            <a:ext cx="16664940" cy="31191200"/>
          </a:xfrm>
        </p:spPr>
        <p:txBody>
          <a:bodyPr anchor="t"/>
          <a:lstStyle>
            <a:lvl1pPr marL="0" indent="0">
              <a:buNone/>
              <a:defRPr sz="11520"/>
            </a:lvl1pPr>
            <a:lvl2pPr marL="1645920" indent="0">
              <a:buNone/>
              <a:defRPr sz="10080"/>
            </a:lvl2pPr>
            <a:lvl3pPr marL="3291840" indent="0">
              <a:buNone/>
              <a:defRPr sz="8640"/>
            </a:lvl3pPr>
            <a:lvl4pPr marL="4937760" indent="0">
              <a:buNone/>
              <a:defRPr sz="7200"/>
            </a:lvl4pPr>
            <a:lvl5pPr marL="6583680" indent="0">
              <a:buNone/>
              <a:defRPr sz="7200"/>
            </a:lvl5pPr>
            <a:lvl6pPr marL="8229600" indent="0">
              <a:buNone/>
              <a:defRPr sz="7200"/>
            </a:lvl6pPr>
            <a:lvl7pPr marL="9875520" indent="0">
              <a:buNone/>
              <a:defRPr sz="7200"/>
            </a:lvl7pPr>
            <a:lvl8pPr marL="11521440" indent="0">
              <a:buNone/>
              <a:defRPr sz="7200"/>
            </a:lvl8pPr>
            <a:lvl9pPr marL="13167360" indent="0">
              <a:buNone/>
              <a:defRPr sz="7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13167360"/>
            <a:ext cx="10617041" cy="24394163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1913-F300-43E2-BF3B-5FB217FBE680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305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1913-F300-43E2-BF3B-5FB217FBE680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891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557232" y="2336800"/>
            <a:ext cx="7098030" cy="37195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63142" y="2336800"/>
            <a:ext cx="20882610" cy="37195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1913-F300-43E2-BF3B-5FB217FBE680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421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3140" y="2336810"/>
            <a:ext cx="28392120" cy="84836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3140" y="11684000"/>
            <a:ext cx="28392120" cy="27848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63140" y="40680650"/>
            <a:ext cx="740664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B11913-F300-43E2-BF3B-5FB217FBE680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04220" y="40680650"/>
            <a:ext cx="1110996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248620" y="40680650"/>
            <a:ext cx="740664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290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291840" rtl="0" eaLnBrk="1" latinLnBrk="0" hangingPunct="1">
        <a:lnSpc>
          <a:spcPct val="90000"/>
        </a:lnSpc>
        <a:spcBef>
          <a:spcPct val="0"/>
        </a:spcBef>
        <a:buNone/>
        <a:defRPr sz="15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22960" indent="-822960" algn="l" defTabSz="3291840" rtl="0" eaLnBrk="1" latinLnBrk="0" hangingPunct="1">
        <a:lnSpc>
          <a:spcPct val="90000"/>
        </a:lnSpc>
        <a:spcBef>
          <a:spcPts val="36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1pPr>
      <a:lvl2pPr marL="24688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740664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905256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106984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23444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2pPr>
      <a:lvl3pPr marL="32918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3pPr>
      <a:lvl4pPr marL="49377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98755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15214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1673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/>
          </p:cNvSpPr>
          <p:nvPr/>
        </p:nvSpPr>
        <p:spPr>
          <a:xfrm>
            <a:off x="1" y="-9"/>
            <a:ext cx="32918399" cy="6240024"/>
          </a:xfrm>
          <a:prstGeom prst="rect">
            <a:avLst/>
          </a:prstGeom>
          <a:solidFill>
            <a:srgbClr val="280334"/>
          </a:soli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12000" b="1" dirty="0" err="1">
                <a:solidFill>
                  <a:schemeClr val="bg1"/>
                </a:solidFill>
              </a:rPr>
              <a:t>SecureLink</a:t>
            </a:r>
            <a:endParaRPr lang="en-US" sz="12000" b="1" dirty="0">
              <a:solidFill>
                <a:schemeClr val="bg1"/>
              </a:solidFill>
            </a:endParaRPr>
          </a:p>
          <a:p>
            <a:pPr algn="ctr"/>
            <a:r>
              <a:rPr lang="en-US" sz="7200" dirty="0">
                <a:solidFill>
                  <a:schemeClr val="bg1"/>
                </a:solidFill>
              </a:rPr>
              <a:t>A self-hosted windows </a:t>
            </a:r>
            <a:r>
              <a:rPr lang="en-US" sz="7200" dirty="0" err="1">
                <a:solidFill>
                  <a:schemeClr val="bg1"/>
                </a:solidFill>
              </a:rPr>
              <a:t>WireGuard</a:t>
            </a:r>
            <a:r>
              <a:rPr lang="en-US" sz="7200" dirty="0">
                <a:solidFill>
                  <a:schemeClr val="bg1"/>
                </a:solidFill>
              </a:rPr>
              <a:t> VPN</a:t>
            </a:r>
            <a:br>
              <a:rPr lang="en-US" sz="7200" dirty="0">
                <a:solidFill>
                  <a:schemeClr val="bg1"/>
                </a:solidFill>
              </a:rPr>
            </a:br>
            <a:r>
              <a:rPr lang="en-US" sz="7200" dirty="0">
                <a:solidFill>
                  <a:schemeClr val="bg1"/>
                </a:solidFill>
              </a:rPr>
              <a:t>Daniyar Abeuov CST-452 Grand Canyon University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2C354B-5570-E4E3-B400-F36CB4050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44474" y="505541"/>
            <a:ext cx="5228924" cy="522892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3327886-6B50-2C97-E064-B66ECE62229B}"/>
              </a:ext>
            </a:extLst>
          </p:cNvPr>
          <p:cNvSpPr txBox="1"/>
          <p:nvPr/>
        </p:nvSpPr>
        <p:spPr>
          <a:xfrm>
            <a:off x="914400" y="7312521"/>
            <a:ext cx="3108960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0" i="1" dirty="0">
                <a:solidFill>
                  <a:srgbClr val="5A2D82"/>
                </a:solidFill>
                <a:latin typeface="Calibri"/>
              </a:rPr>
              <a:t>Private </a:t>
            </a:r>
            <a:r>
              <a:rPr lang="en-US" sz="3600" i="1" dirty="0">
                <a:solidFill>
                  <a:srgbClr val="5A2D82"/>
                </a:solidFill>
                <a:latin typeface="Calibri"/>
              </a:rPr>
              <a:t>VPN,</a:t>
            </a:r>
            <a:r>
              <a:rPr sz="3600" b="0" i="1" dirty="0">
                <a:solidFill>
                  <a:srgbClr val="5A2D82"/>
                </a:solidFill>
                <a:latin typeface="Calibri"/>
              </a:rPr>
              <a:t> my own encrypted </a:t>
            </a:r>
            <a:r>
              <a:rPr sz="3600" b="0" i="1" dirty="0" err="1">
                <a:solidFill>
                  <a:srgbClr val="5A2D82"/>
                </a:solidFill>
                <a:latin typeface="Calibri"/>
              </a:rPr>
              <a:t>WireGuard</a:t>
            </a:r>
            <a:r>
              <a:rPr sz="3600" b="0" i="1" dirty="0">
                <a:solidFill>
                  <a:srgbClr val="5A2D82"/>
                </a:solidFill>
                <a:latin typeface="Calibri"/>
              </a:rPr>
              <a:t> relays in New York and Frankfurt, a Windows client that sets everything up in one click</a:t>
            </a:r>
            <a:r>
              <a:rPr lang="en-US" sz="3600" i="1" dirty="0">
                <a:solidFill>
                  <a:srgbClr val="5A2D82"/>
                </a:solidFill>
                <a:latin typeface="Calibri"/>
              </a:rPr>
              <a:t>.</a:t>
            </a:r>
            <a:endParaRPr sz="3600" b="0" i="1" dirty="0">
              <a:solidFill>
                <a:srgbClr val="5A2D82"/>
              </a:solidFill>
              <a:latin typeface="Calibri"/>
            </a:endParaRPr>
          </a:p>
        </p:txBody>
      </p:sp>
      <p:sp>
        <p:nvSpPr>
          <p:cNvPr id="30" name="Rounded Rectangle 5">
            <a:extLst>
              <a:ext uri="{FF2B5EF4-FFF2-40B4-BE49-F238E27FC236}">
                <a16:creationId xmlns:a16="http://schemas.microsoft.com/office/drawing/2014/main" id="{80095E5F-D573-CB40-C3C1-82E9AD259D1F}"/>
              </a:ext>
            </a:extLst>
          </p:cNvPr>
          <p:cNvSpPr/>
          <p:nvPr/>
        </p:nvSpPr>
        <p:spPr>
          <a:xfrm>
            <a:off x="914400" y="8961120"/>
            <a:ext cx="9753904" cy="104241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38100">
            <a:solidFill>
              <a:srgbClr val="D9C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6F6A25D-5ADF-AE38-724C-A9917E252FAE}"/>
              </a:ext>
            </a:extLst>
          </p:cNvPr>
          <p:cNvSpPr/>
          <p:nvPr/>
        </p:nvSpPr>
        <p:spPr>
          <a:xfrm>
            <a:off x="1463040" y="9464040"/>
            <a:ext cx="1051560" cy="1051560"/>
          </a:xfrm>
          <a:prstGeom prst="ellipse">
            <a:avLst/>
          </a:prstGeom>
          <a:solidFill>
            <a:srgbClr val="5A2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4400" b="1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7F06C59-0A28-F070-90CA-72F50BCB3492}"/>
              </a:ext>
            </a:extLst>
          </p:cNvPr>
          <p:cNvSpPr txBox="1"/>
          <p:nvPr/>
        </p:nvSpPr>
        <p:spPr>
          <a:xfrm>
            <a:off x="2788920" y="9418320"/>
            <a:ext cx="7422184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1" i="0" dirty="0">
                <a:solidFill>
                  <a:srgbClr val="280334"/>
                </a:solidFill>
                <a:latin typeface="Calibri"/>
              </a:rPr>
              <a:t>Project Description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7E1C4E6-485F-BEFC-CB53-0B96F9419D71}"/>
              </a:ext>
            </a:extLst>
          </p:cNvPr>
          <p:cNvSpPr txBox="1"/>
          <p:nvPr/>
        </p:nvSpPr>
        <p:spPr>
          <a:xfrm>
            <a:off x="1463040" y="10835640"/>
            <a:ext cx="8656624" cy="55245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0"/>
              </a:spcAft>
            </a:pPr>
            <a:r>
              <a:rPr sz="3400" b="0" i="0" dirty="0" err="1">
                <a:solidFill>
                  <a:srgbClr val="1F1F1F"/>
                </a:solidFill>
                <a:latin typeface="Calibri"/>
              </a:rPr>
              <a:t>SecureLink</a:t>
            </a:r>
            <a:r>
              <a:rPr sz="3400" b="0" i="0" dirty="0">
                <a:solidFill>
                  <a:srgbClr val="1F1F1F"/>
                </a:solidFill>
                <a:latin typeface="Calibri"/>
              </a:rPr>
              <a:t> is a complete VPN </a:t>
            </a:r>
            <a:r>
              <a:rPr lang="en-US" sz="3400" b="0" i="0" dirty="0">
                <a:solidFill>
                  <a:srgbClr val="1F1F1F"/>
                </a:solidFill>
                <a:latin typeface="Calibri"/>
              </a:rPr>
              <a:t>application</a:t>
            </a:r>
            <a:r>
              <a:rPr lang="en-US" sz="3400" dirty="0">
                <a:solidFill>
                  <a:srgbClr val="1F1F1F"/>
                </a:solidFill>
                <a:latin typeface="Calibri"/>
              </a:rPr>
              <a:t>: </a:t>
            </a:r>
            <a:r>
              <a:rPr sz="3400" b="0" i="0" dirty="0">
                <a:solidFill>
                  <a:srgbClr val="1F1F1F"/>
                </a:solidFill>
                <a:latin typeface="Calibri"/>
              </a:rPr>
              <a:t>desktop client, backend API and relay servers</a:t>
            </a:r>
            <a:r>
              <a:rPr lang="en-US" sz="3400" b="0" i="0" dirty="0">
                <a:solidFill>
                  <a:srgbClr val="1F1F1F"/>
                </a:solidFill>
                <a:latin typeface="Calibri"/>
              </a:rPr>
              <a:t> </a:t>
            </a:r>
            <a:r>
              <a:rPr sz="3400" b="0" i="0" dirty="0">
                <a:solidFill>
                  <a:srgbClr val="1F1F1F"/>
                </a:solidFill>
                <a:latin typeface="Calibri"/>
              </a:rPr>
              <a:t>that I designed, built and deployed.</a:t>
            </a:r>
          </a:p>
          <a:p>
            <a:pPr marL="411480" indent="-411480" algn="l">
              <a:spcAft>
                <a:spcPts val="1400"/>
              </a:spcAft>
              <a:buChar char="•"/>
            </a:pPr>
            <a:r>
              <a:rPr sz="3100" b="0" i="0" dirty="0">
                <a:solidFill>
                  <a:srgbClr val="1F1F1F"/>
                </a:solidFill>
                <a:latin typeface="Calibri"/>
              </a:rPr>
              <a:t>A Windows (WPF)</a:t>
            </a:r>
            <a:r>
              <a:rPr lang="en-US" sz="3100" b="0" i="0" dirty="0">
                <a:solidFill>
                  <a:srgbClr val="1F1F1F"/>
                </a:solidFill>
                <a:latin typeface="Calibri"/>
              </a:rPr>
              <a:t> client</a:t>
            </a:r>
            <a:r>
              <a:rPr sz="3100" b="0" i="0" dirty="0">
                <a:solidFill>
                  <a:srgbClr val="1F1F1F"/>
                </a:solidFill>
                <a:latin typeface="Calibri"/>
              </a:rPr>
              <a:t> app </a:t>
            </a:r>
            <a:r>
              <a:rPr lang="en-US" sz="3100" b="0" i="0" dirty="0">
                <a:solidFill>
                  <a:srgbClr val="1F1F1F"/>
                </a:solidFill>
                <a:latin typeface="Calibri"/>
              </a:rPr>
              <a:t>sets up</a:t>
            </a:r>
            <a:r>
              <a:rPr sz="3100" b="0" i="0" dirty="0">
                <a:solidFill>
                  <a:srgbClr val="1F1F1F"/>
                </a:solidFill>
                <a:latin typeface="Calibri"/>
              </a:rPr>
              <a:t> an encrypted </a:t>
            </a:r>
            <a:r>
              <a:rPr sz="3100" b="0" i="0" dirty="0" err="1">
                <a:solidFill>
                  <a:srgbClr val="1F1F1F"/>
                </a:solidFill>
                <a:latin typeface="Calibri"/>
              </a:rPr>
              <a:t>WireGuard</a:t>
            </a:r>
            <a:r>
              <a:rPr sz="3100" b="0" i="0" dirty="0">
                <a:solidFill>
                  <a:srgbClr val="1F1F1F"/>
                </a:solidFill>
                <a:latin typeface="Calibri"/>
              </a:rPr>
              <a:t> tunnel to a relay in New York or Germany.</a:t>
            </a:r>
          </a:p>
          <a:p>
            <a:pPr marL="411480" indent="-411480" algn="l">
              <a:spcAft>
                <a:spcPts val="1400"/>
              </a:spcAft>
              <a:buChar char="•"/>
            </a:pPr>
            <a:r>
              <a:rPr sz="3100" b="0" i="0" dirty="0">
                <a:solidFill>
                  <a:srgbClr val="1F1F1F"/>
                </a:solidFill>
                <a:latin typeface="Calibri"/>
              </a:rPr>
              <a:t>An ASP.NET Core backend manages accounts, enforces one session per user</a:t>
            </a:r>
            <a:r>
              <a:rPr lang="en-US" sz="3100" dirty="0">
                <a:solidFill>
                  <a:srgbClr val="1F1F1F"/>
                </a:solidFill>
                <a:latin typeface="Calibri"/>
              </a:rPr>
              <a:t>.</a:t>
            </a:r>
          </a:p>
          <a:p>
            <a:pPr marL="411480" indent="-411480" algn="l">
              <a:spcAft>
                <a:spcPts val="1400"/>
              </a:spcAft>
              <a:buChar char="•"/>
            </a:pPr>
            <a:r>
              <a:rPr sz="3100" b="0" i="0" dirty="0">
                <a:solidFill>
                  <a:srgbClr val="1F1F1F"/>
                </a:solidFill>
                <a:latin typeface="Calibri"/>
              </a:rPr>
              <a:t>A kill switch blocks all traffic outside the tunnel, and the app cleans up automatically after a crash.</a:t>
            </a:r>
          </a:p>
        </p:txBody>
      </p:sp>
      <p:sp>
        <p:nvSpPr>
          <p:cNvPr id="39" name="Rounded Rectangle 21">
            <a:extLst>
              <a:ext uri="{FF2B5EF4-FFF2-40B4-BE49-F238E27FC236}">
                <a16:creationId xmlns:a16="http://schemas.microsoft.com/office/drawing/2014/main" id="{C121484E-91E1-C34A-BD7C-755E699B3791}"/>
              </a:ext>
            </a:extLst>
          </p:cNvPr>
          <p:cNvSpPr/>
          <p:nvPr/>
        </p:nvSpPr>
        <p:spPr>
          <a:xfrm>
            <a:off x="914400" y="20299680"/>
            <a:ext cx="9753904" cy="106070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38100">
            <a:solidFill>
              <a:srgbClr val="D9C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6378BB5C-FE69-FB0D-C374-F34E107D681B}"/>
              </a:ext>
            </a:extLst>
          </p:cNvPr>
          <p:cNvSpPr/>
          <p:nvPr/>
        </p:nvSpPr>
        <p:spPr>
          <a:xfrm>
            <a:off x="1463040" y="20802600"/>
            <a:ext cx="1051560" cy="1051560"/>
          </a:xfrm>
          <a:prstGeom prst="ellipse">
            <a:avLst/>
          </a:prstGeom>
          <a:solidFill>
            <a:srgbClr val="5A2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88800E1-B197-391D-70D0-DDEC9164C8BF}"/>
              </a:ext>
            </a:extLst>
          </p:cNvPr>
          <p:cNvSpPr txBox="1"/>
          <p:nvPr/>
        </p:nvSpPr>
        <p:spPr>
          <a:xfrm>
            <a:off x="2788920" y="20756880"/>
            <a:ext cx="7422184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1" i="0">
                <a:solidFill>
                  <a:srgbClr val="280334"/>
                </a:solidFill>
                <a:latin typeface="Calibri"/>
              </a:rPr>
              <a:t>Project Justification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F9253BF-05E2-968E-FA5D-49EFC1D96F81}"/>
              </a:ext>
            </a:extLst>
          </p:cNvPr>
          <p:cNvSpPr txBox="1"/>
          <p:nvPr/>
        </p:nvSpPr>
        <p:spPr>
          <a:xfrm>
            <a:off x="1463040" y="22174200"/>
            <a:ext cx="8656624" cy="6104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0"/>
              </a:spcAft>
            </a:pPr>
            <a:r>
              <a:rPr lang="en-US" sz="3200" b="0" i="0" dirty="0">
                <a:solidFill>
                  <a:srgbClr val="1F1F1F"/>
                </a:solidFill>
                <a:latin typeface="Calibri"/>
              </a:rPr>
              <a:t>I personally don’t trust </a:t>
            </a:r>
            <a:r>
              <a:rPr lang="en-US" sz="3200" dirty="0">
                <a:solidFill>
                  <a:srgbClr val="1F1F1F"/>
                </a:solidFill>
                <a:latin typeface="Calibri"/>
              </a:rPr>
              <a:t>c</a:t>
            </a:r>
            <a:r>
              <a:rPr sz="3200" b="0" i="0" dirty="0">
                <a:solidFill>
                  <a:srgbClr val="1F1F1F"/>
                </a:solidFill>
                <a:latin typeface="Calibri"/>
              </a:rPr>
              <a:t>ommercial VPNs </a:t>
            </a:r>
            <a:r>
              <a:rPr lang="en-US" sz="3200" b="0" i="0" dirty="0">
                <a:solidFill>
                  <a:srgbClr val="1F1F1F"/>
                </a:solidFill>
                <a:latin typeface="Calibri"/>
              </a:rPr>
              <a:t>with my traffic</a:t>
            </a:r>
            <a:r>
              <a:rPr sz="3200" b="0" i="0" dirty="0">
                <a:solidFill>
                  <a:srgbClr val="1F1F1F"/>
                </a:solidFill>
                <a:latin typeface="Calibri"/>
              </a:rPr>
              <a:t>. Running your own </a:t>
            </a:r>
            <a:r>
              <a:rPr lang="en-US" sz="3200" b="0" i="0" dirty="0">
                <a:solidFill>
                  <a:srgbClr val="1F1F1F"/>
                </a:solidFill>
                <a:latin typeface="Calibri"/>
              </a:rPr>
              <a:t>VPN</a:t>
            </a:r>
            <a:r>
              <a:rPr sz="3200" b="0" i="0" dirty="0">
                <a:solidFill>
                  <a:srgbClr val="1F1F1F"/>
                </a:solidFill>
                <a:latin typeface="Calibri"/>
              </a:rPr>
              <a:t> server </a:t>
            </a:r>
            <a:r>
              <a:rPr lang="en-US" sz="3200" dirty="0">
                <a:solidFill>
                  <a:srgbClr val="1F1F1F"/>
                </a:solidFill>
                <a:latin typeface="Calibri"/>
              </a:rPr>
              <a:t>saves money and ensures your data is not logged by a third-party provider.</a:t>
            </a:r>
            <a:endParaRPr sz="3200" b="0" i="0" dirty="0">
              <a:solidFill>
                <a:srgbClr val="1F1F1F"/>
              </a:solidFill>
              <a:latin typeface="Calibri"/>
            </a:endParaRPr>
          </a:p>
          <a:p>
            <a:pPr marL="411480" indent="-411480" algn="l">
              <a:spcAft>
                <a:spcPts val="1400"/>
              </a:spcAft>
              <a:buChar char="•"/>
            </a:pPr>
            <a:r>
              <a:rPr sz="3100" b="0" i="0" dirty="0">
                <a:solidFill>
                  <a:srgbClr val="1F1F1F"/>
                </a:solidFill>
                <a:latin typeface="Calibri"/>
              </a:rPr>
              <a:t>Control: my own servers, no third-party logging.</a:t>
            </a:r>
          </a:p>
          <a:p>
            <a:pPr marL="411480" indent="-411480" algn="l">
              <a:spcAft>
                <a:spcPts val="1400"/>
              </a:spcAft>
              <a:buChar char="•"/>
            </a:pPr>
            <a:r>
              <a:rPr sz="3100" b="0" i="0" dirty="0">
                <a:solidFill>
                  <a:srgbClr val="1F1F1F"/>
                </a:solidFill>
                <a:latin typeface="Calibri"/>
              </a:rPr>
              <a:t>Automation: key exchange, </a:t>
            </a:r>
            <a:r>
              <a:rPr lang="en-US" sz="3100" b="0" i="0" dirty="0">
                <a:solidFill>
                  <a:srgbClr val="1F1F1F"/>
                </a:solidFill>
                <a:latin typeface="Calibri"/>
              </a:rPr>
              <a:t>device</a:t>
            </a:r>
            <a:r>
              <a:rPr lang="en-US" sz="3100" dirty="0">
                <a:solidFill>
                  <a:srgbClr val="1F1F1F"/>
                </a:solidFill>
                <a:latin typeface="Calibri"/>
              </a:rPr>
              <a:t> </a:t>
            </a:r>
            <a:r>
              <a:rPr sz="3100" b="0" i="0" dirty="0">
                <a:solidFill>
                  <a:srgbClr val="1F1F1F"/>
                </a:solidFill>
                <a:latin typeface="Calibri"/>
              </a:rPr>
              <a:t>setup and IP assignment happen for the user.</a:t>
            </a:r>
          </a:p>
          <a:p>
            <a:pPr marL="411480" indent="-411480" algn="l">
              <a:spcAft>
                <a:spcPts val="1400"/>
              </a:spcAft>
              <a:buChar char="•"/>
            </a:pPr>
            <a:r>
              <a:rPr sz="3100" b="0" i="0" dirty="0">
                <a:solidFill>
                  <a:srgbClr val="1F1F1F"/>
                </a:solidFill>
                <a:latin typeface="Calibri"/>
              </a:rPr>
              <a:t>Safety: the kill switch and crash recovery prevent silent leaks.</a:t>
            </a:r>
          </a:p>
          <a:p>
            <a:pPr marL="411480" indent="-411480" algn="l">
              <a:spcAft>
                <a:spcPts val="1400"/>
              </a:spcAft>
              <a:buChar char="•"/>
            </a:pPr>
            <a:r>
              <a:rPr lang="en-US" sz="3100" dirty="0">
                <a:solidFill>
                  <a:srgbClr val="1F1F1F"/>
                </a:solidFill>
                <a:latin typeface="Calibri"/>
              </a:rPr>
              <a:t>Scale</a:t>
            </a:r>
            <a:r>
              <a:rPr sz="3100" b="0" i="0" dirty="0">
                <a:solidFill>
                  <a:srgbClr val="1F1F1F"/>
                </a:solidFill>
                <a:latin typeface="Calibri"/>
              </a:rPr>
              <a:t>: built for a small group</a:t>
            </a:r>
            <a:r>
              <a:rPr lang="en-US" sz="3100" b="0" i="0" dirty="0">
                <a:solidFill>
                  <a:srgbClr val="1F1F1F"/>
                </a:solidFill>
                <a:latin typeface="Calibri"/>
              </a:rPr>
              <a:t> of users, hosted on low-cost servers.</a:t>
            </a:r>
            <a:endParaRPr sz="3100" b="0" i="0" dirty="0">
              <a:solidFill>
                <a:srgbClr val="1F1F1F"/>
              </a:solidFill>
              <a:latin typeface="Calibri"/>
            </a:endParaRPr>
          </a:p>
        </p:txBody>
      </p:sp>
      <p:sp>
        <p:nvSpPr>
          <p:cNvPr id="46" name="Rounded Rectangle 30">
            <a:extLst>
              <a:ext uri="{FF2B5EF4-FFF2-40B4-BE49-F238E27FC236}">
                <a16:creationId xmlns:a16="http://schemas.microsoft.com/office/drawing/2014/main" id="{99CE0665-7A96-B98B-AF30-DBA09F759E28}"/>
              </a:ext>
            </a:extLst>
          </p:cNvPr>
          <p:cNvSpPr/>
          <p:nvPr/>
        </p:nvSpPr>
        <p:spPr>
          <a:xfrm>
            <a:off x="914400" y="31821119"/>
            <a:ext cx="9753904" cy="96926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38100">
            <a:solidFill>
              <a:srgbClr val="D9C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A6739B6-3200-AADF-D809-F9FEEE7F3A11}"/>
              </a:ext>
            </a:extLst>
          </p:cNvPr>
          <p:cNvSpPr/>
          <p:nvPr/>
        </p:nvSpPr>
        <p:spPr>
          <a:xfrm>
            <a:off x="1463040" y="32324039"/>
            <a:ext cx="1051560" cy="1051560"/>
          </a:xfrm>
          <a:prstGeom prst="ellipse">
            <a:avLst/>
          </a:prstGeom>
          <a:solidFill>
            <a:srgbClr val="5A2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2E45697-8A60-76B7-591B-538280FEFA50}"/>
              </a:ext>
            </a:extLst>
          </p:cNvPr>
          <p:cNvSpPr txBox="1"/>
          <p:nvPr/>
        </p:nvSpPr>
        <p:spPr>
          <a:xfrm>
            <a:off x="2788920" y="32278319"/>
            <a:ext cx="7422184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1" i="0">
                <a:solidFill>
                  <a:srgbClr val="280334"/>
                </a:solidFill>
                <a:latin typeface="Calibri"/>
              </a:rPr>
              <a:t>Design Process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25B4780D-28BB-B564-4415-2D294E23B724}"/>
              </a:ext>
            </a:extLst>
          </p:cNvPr>
          <p:cNvSpPr/>
          <p:nvPr/>
        </p:nvSpPr>
        <p:spPr>
          <a:xfrm>
            <a:off x="1554480" y="33851088"/>
            <a:ext cx="566928" cy="566928"/>
          </a:xfrm>
          <a:prstGeom prst="ellipse">
            <a:avLst/>
          </a:prstGeom>
          <a:solidFill>
            <a:srgbClr val="5A2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0" name="Connector 34">
            <a:extLst>
              <a:ext uri="{FF2B5EF4-FFF2-40B4-BE49-F238E27FC236}">
                <a16:creationId xmlns:a16="http://schemas.microsoft.com/office/drawing/2014/main" id="{47B32B2C-4F6A-0274-61F1-D5C408891F7A}"/>
              </a:ext>
            </a:extLst>
          </p:cNvPr>
          <p:cNvCxnSpPr/>
          <p:nvPr/>
        </p:nvCxnSpPr>
        <p:spPr>
          <a:xfrm>
            <a:off x="1837943" y="34454592"/>
            <a:ext cx="0" cy="841248"/>
          </a:xfrm>
          <a:prstGeom prst="line">
            <a:avLst/>
          </a:prstGeom>
          <a:ln w="50800">
            <a:solidFill>
              <a:srgbClr val="D9CC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6A7E8490-CFD3-37A6-9118-CB2278231720}"/>
              </a:ext>
            </a:extLst>
          </p:cNvPr>
          <p:cNvSpPr txBox="1"/>
          <p:nvPr/>
        </p:nvSpPr>
        <p:spPr>
          <a:xfrm>
            <a:off x="2377440" y="33741360"/>
            <a:ext cx="7833664" cy="8771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 dirty="0">
                <a:solidFill>
                  <a:srgbClr val="280334"/>
                </a:solidFill>
                <a:latin typeface="Calibri"/>
              </a:rPr>
              <a:t>Plan  </a:t>
            </a:r>
            <a:r>
              <a:rPr lang="en-US" sz="2700" b="0" i="0" dirty="0">
                <a:solidFill>
                  <a:srgbClr val="1F1F1F"/>
                </a:solidFill>
                <a:latin typeface="Calibri"/>
              </a:rPr>
              <a:t>Design documentation</a:t>
            </a:r>
            <a:r>
              <a:rPr sz="2700" b="0" i="0" dirty="0">
                <a:solidFill>
                  <a:srgbClr val="1F1F1F"/>
                </a:solidFill>
                <a:latin typeface="Calibri"/>
              </a:rPr>
              <a:t>, user stories and functional requirements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68F74ECA-5CD2-15C6-C493-19E80732F4AA}"/>
              </a:ext>
            </a:extLst>
          </p:cNvPr>
          <p:cNvSpPr/>
          <p:nvPr/>
        </p:nvSpPr>
        <p:spPr>
          <a:xfrm>
            <a:off x="1554480" y="35332415"/>
            <a:ext cx="566928" cy="566928"/>
          </a:xfrm>
          <a:prstGeom prst="ellipse">
            <a:avLst/>
          </a:prstGeom>
          <a:solidFill>
            <a:srgbClr val="5A2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3" name="Connector 37">
            <a:extLst>
              <a:ext uri="{FF2B5EF4-FFF2-40B4-BE49-F238E27FC236}">
                <a16:creationId xmlns:a16="http://schemas.microsoft.com/office/drawing/2014/main" id="{5B58A49C-1DDA-6A94-B6D9-4AE1227EE547}"/>
              </a:ext>
            </a:extLst>
          </p:cNvPr>
          <p:cNvCxnSpPr/>
          <p:nvPr/>
        </p:nvCxnSpPr>
        <p:spPr>
          <a:xfrm>
            <a:off x="1837943" y="35935920"/>
            <a:ext cx="0" cy="841248"/>
          </a:xfrm>
          <a:prstGeom prst="line">
            <a:avLst/>
          </a:prstGeom>
          <a:ln w="50800">
            <a:solidFill>
              <a:srgbClr val="D9CC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2B2ACE73-2C85-1772-B1BC-822A851A5400}"/>
              </a:ext>
            </a:extLst>
          </p:cNvPr>
          <p:cNvSpPr txBox="1"/>
          <p:nvPr/>
        </p:nvSpPr>
        <p:spPr>
          <a:xfrm>
            <a:off x="2377440" y="35222688"/>
            <a:ext cx="7833664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 dirty="0">
                <a:solidFill>
                  <a:srgbClr val="280334"/>
                </a:solidFill>
                <a:latin typeface="Calibri"/>
              </a:rPr>
              <a:t>Design  </a:t>
            </a:r>
            <a:r>
              <a:rPr sz="2700" b="0" i="0" dirty="0">
                <a:solidFill>
                  <a:srgbClr val="1F1F1F"/>
                </a:solidFill>
                <a:latin typeface="Calibri"/>
              </a:rPr>
              <a:t>Architecture, data dictionary, API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309DCB01-DDF2-0285-EBBC-7CD37EB857AC}"/>
              </a:ext>
            </a:extLst>
          </p:cNvPr>
          <p:cNvSpPr/>
          <p:nvPr/>
        </p:nvSpPr>
        <p:spPr>
          <a:xfrm>
            <a:off x="1554480" y="36813744"/>
            <a:ext cx="566928" cy="566928"/>
          </a:xfrm>
          <a:prstGeom prst="ellipse">
            <a:avLst/>
          </a:prstGeom>
          <a:solidFill>
            <a:srgbClr val="5A2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6" name="Connector 40">
            <a:extLst>
              <a:ext uri="{FF2B5EF4-FFF2-40B4-BE49-F238E27FC236}">
                <a16:creationId xmlns:a16="http://schemas.microsoft.com/office/drawing/2014/main" id="{927F6FC2-1088-2BF3-C663-A71EC38D3892}"/>
              </a:ext>
            </a:extLst>
          </p:cNvPr>
          <p:cNvCxnSpPr/>
          <p:nvPr/>
        </p:nvCxnSpPr>
        <p:spPr>
          <a:xfrm>
            <a:off x="1837943" y="37417248"/>
            <a:ext cx="0" cy="841248"/>
          </a:xfrm>
          <a:prstGeom prst="line">
            <a:avLst/>
          </a:prstGeom>
          <a:ln w="50800">
            <a:solidFill>
              <a:srgbClr val="D9CC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E639AD28-4C1D-3029-6317-FC8BAA1C00C6}"/>
              </a:ext>
            </a:extLst>
          </p:cNvPr>
          <p:cNvSpPr txBox="1"/>
          <p:nvPr/>
        </p:nvSpPr>
        <p:spPr>
          <a:xfrm>
            <a:off x="2377440" y="36704016"/>
            <a:ext cx="7833664" cy="8771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 dirty="0">
                <a:solidFill>
                  <a:srgbClr val="280334"/>
                </a:solidFill>
                <a:latin typeface="Calibri"/>
              </a:rPr>
              <a:t>Build  </a:t>
            </a:r>
            <a:r>
              <a:rPr sz="2700" b="0" i="0" dirty="0">
                <a:solidFill>
                  <a:srgbClr val="1F1F1F"/>
                </a:solidFill>
                <a:latin typeface="Calibri"/>
              </a:rPr>
              <a:t>Agile sprints: 25 user stories</a:t>
            </a:r>
            <a:r>
              <a:rPr lang="en-US" sz="2700" b="0" i="0" dirty="0">
                <a:solidFill>
                  <a:srgbClr val="1F1F1F"/>
                </a:solidFill>
                <a:latin typeface="Calibri"/>
              </a:rPr>
              <a:t> </a:t>
            </a:r>
            <a:r>
              <a:rPr sz="2700" b="0" i="0" dirty="0">
                <a:solidFill>
                  <a:srgbClr val="1F1F1F"/>
                </a:solidFill>
                <a:latin typeface="Calibri"/>
              </a:rPr>
              <a:t>with a traceability matrix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8BBC0AE9-04FD-3A02-157E-38F99110B73F}"/>
              </a:ext>
            </a:extLst>
          </p:cNvPr>
          <p:cNvSpPr/>
          <p:nvPr/>
        </p:nvSpPr>
        <p:spPr>
          <a:xfrm>
            <a:off x="1554480" y="38295071"/>
            <a:ext cx="566928" cy="566928"/>
          </a:xfrm>
          <a:prstGeom prst="ellipse">
            <a:avLst/>
          </a:prstGeom>
          <a:solidFill>
            <a:srgbClr val="5A2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9" name="Connector 43">
            <a:extLst>
              <a:ext uri="{FF2B5EF4-FFF2-40B4-BE49-F238E27FC236}">
                <a16:creationId xmlns:a16="http://schemas.microsoft.com/office/drawing/2014/main" id="{D2008F1C-DCF5-8EC4-AD3A-B37B0A4C7F7F}"/>
              </a:ext>
            </a:extLst>
          </p:cNvPr>
          <p:cNvCxnSpPr/>
          <p:nvPr/>
        </p:nvCxnSpPr>
        <p:spPr>
          <a:xfrm>
            <a:off x="1837943" y="38898576"/>
            <a:ext cx="0" cy="841248"/>
          </a:xfrm>
          <a:prstGeom prst="line">
            <a:avLst/>
          </a:prstGeom>
          <a:ln w="50800">
            <a:solidFill>
              <a:srgbClr val="D9CC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2C98C132-6980-0823-AAB6-377689951297}"/>
              </a:ext>
            </a:extLst>
          </p:cNvPr>
          <p:cNvSpPr txBox="1"/>
          <p:nvPr/>
        </p:nvSpPr>
        <p:spPr>
          <a:xfrm>
            <a:off x="2377440" y="38185344"/>
            <a:ext cx="7833664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 dirty="0">
                <a:solidFill>
                  <a:srgbClr val="280334"/>
                </a:solidFill>
                <a:latin typeface="Calibri"/>
              </a:rPr>
              <a:t>Test  </a:t>
            </a:r>
            <a:r>
              <a:rPr sz="2700" b="0" i="0" dirty="0">
                <a:solidFill>
                  <a:srgbClr val="1F1F1F"/>
                </a:solidFill>
                <a:latin typeface="Calibri"/>
              </a:rPr>
              <a:t>43 test cases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6D535F3-5914-F011-6968-8E5BE3FAD2EE}"/>
              </a:ext>
            </a:extLst>
          </p:cNvPr>
          <p:cNvSpPr txBox="1"/>
          <p:nvPr/>
        </p:nvSpPr>
        <p:spPr>
          <a:xfrm>
            <a:off x="2377440" y="39666671"/>
            <a:ext cx="7833664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 dirty="0">
                <a:solidFill>
                  <a:srgbClr val="280334"/>
                </a:solidFill>
                <a:latin typeface="Calibri"/>
              </a:rPr>
              <a:t>Release  </a:t>
            </a:r>
            <a:r>
              <a:rPr lang="en-US" sz="2700" dirty="0">
                <a:solidFill>
                  <a:srgbClr val="1F1F1F"/>
                </a:solidFill>
                <a:latin typeface="Calibri"/>
              </a:rPr>
              <a:t>Deployed and ready-to-use application</a:t>
            </a:r>
            <a:endParaRPr sz="2700" b="0" i="0" dirty="0">
              <a:solidFill>
                <a:srgbClr val="1F1F1F"/>
              </a:solidFill>
              <a:latin typeface="Calibri"/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6B389920-685C-7DA1-2C19-F10B8CBB6849}"/>
              </a:ext>
            </a:extLst>
          </p:cNvPr>
          <p:cNvSpPr/>
          <p:nvPr/>
        </p:nvSpPr>
        <p:spPr>
          <a:xfrm>
            <a:off x="1560379" y="39808403"/>
            <a:ext cx="566928" cy="566928"/>
          </a:xfrm>
          <a:prstGeom prst="ellipse">
            <a:avLst/>
          </a:prstGeom>
          <a:solidFill>
            <a:srgbClr val="5A2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1B1F032-6426-AFF9-92B2-7D6467BF09F3}"/>
              </a:ext>
            </a:extLst>
          </p:cNvPr>
          <p:cNvSpPr txBox="1"/>
          <p:nvPr/>
        </p:nvSpPr>
        <p:spPr>
          <a:xfrm>
            <a:off x="914400" y="42548145"/>
            <a:ext cx="31089600" cy="4001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0" i="0" dirty="0">
                <a:solidFill>
                  <a:srgbClr val="595959"/>
                </a:solidFill>
                <a:latin typeface="Calibri"/>
              </a:rPr>
              <a:t>Source code: github.com/</a:t>
            </a:r>
            <a:r>
              <a:rPr sz="2600" b="0" i="0" dirty="0" err="1">
                <a:solidFill>
                  <a:srgbClr val="595959"/>
                </a:solidFill>
                <a:latin typeface="Calibri"/>
              </a:rPr>
              <a:t>AbeuovDaniyar</a:t>
            </a:r>
            <a:r>
              <a:rPr sz="2600" b="0" i="0" dirty="0">
                <a:solidFill>
                  <a:srgbClr val="595959"/>
                </a:solidFill>
                <a:latin typeface="Calibri"/>
              </a:rPr>
              <a:t>/</a:t>
            </a:r>
            <a:r>
              <a:rPr sz="2600" b="0" i="0" dirty="0" err="1">
                <a:solidFill>
                  <a:srgbClr val="595959"/>
                </a:solidFill>
                <a:latin typeface="Calibri"/>
              </a:rPr>
              <a:t>SecureLinkVPN</a:t>
            </a:r>
            <a:r>
              <a:rPr sz="2600" b="0" i="0" dirty="0">
                <a:solidFill>
                  <a:srgbClr val="595959"/>
                </a:solidFill>
                <a:latin typeface="Calibri"/>
              </a:rPr>
              <a:t> </a:t>
            </a:r>
          </a:p>
        </p:txBody>
      </p:sp>
      <p:sp>
        <p:nvSpPr>
          <p:cNvPr id="65" name="Rounded Rectangle 9">
            <a:extLst>
              <a:ext uri="{FF2B5EF4-FFF2-40B4-BE49-F238E27FC236}">
                <a16:creationId xmlns:a16="http://schemas.microsoft.com/office/drawing/2014/main" id="{D216B9D1-6189-F64E-2947-636FC82C6B1D}"/>
              </a:ext>
            </a:extLst>
          </p:cNvPr>
          <p:cNvSpPr/>
          <p:nvPr/>
        </p:nvSpPr>
        <p:spPr>
          <a:xfrm>
            <a:off x="11582704" y="8961120"/>
            <a:ext cx="20422209" cy="104241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38100">
            <a:solidFill>
              <a:srgbClr val="D9C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62B15ED-1ABB-398A-D2A6-FF2BB12F66FE}"/>
              </a:ext>
            </a:extLst>
          </p:cNvPr>
          <p:cNvSpPr txBox="1"/>
          <p:nvPr/>
        </p:nvSpPr>
        <p:spPr>
          <a:xfrm>
            <a:off x="12131344" y="9418320"/>
            <a:ext cx="19416369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1" i="0">
                <a:solidFill>
                  <a:srgbClr val="280334"/>
                </a:solidFill>
                <a:latin typeface="Calibri"/>
              </a:rPr>
              <a:t>System Architecture</a:t>
            </a:r>
          </a:p>
        </p:txBody>
      </p:sp>
      <p:sp>
        <p:nvSpPr>
          <p:cNvPr id="67" name="Rounded Rectangle 11">
            <a:extLst>
              <a:ext uri="{FF2B5EF4-FFF2-40B4-BE49-F238E27FC236}">
                <a16:creationId xmlns:a16="http://schemas.microsoft.com/office/drawing/2014/main" id="{028FAC6B-ED01-2F32-A728-AD29F3A31883}"/>
              </a:ext>
            </a:extLst>
          </p:cNvPr>
          <p:cNvSpPr/>
          <p:nvPr/>
        </p:nvSpPr>
        <p:spPr>
          <a:xfrm>
            <a:off x="12131344" y="11155680"/>
            <a:ext cx="5212080" cy="2926080"/>
          </a:xfrm>
          <a:prstGeom prst="roundRect">
            <a:avLst>
              <a:gd name="adj" fmla="val 12000"/>
            </a:avLst>
          </a:prstGeom>
          <a:solidFill>
            <a:srgbClr val="280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/>
            <a:r>
              <a:rPr sz="3200" b="1" dirty="0" err="1">
                <a:solidFill>
                  <a:srgbClr val="FFFFFF"/>
                </a:solidFill>
                <a:latin typeface="Calibri"/>
              </a:rPr>
              <a:t>SecureLink</a:t>
            </a:r>
            <a:r>
              <a:rPr sz="3200" b="1" dirty="0">
                <a:solidFill>
                  <a:srgbClr val="FFFFFF"/>
                </a:solidFill>
                <a:latin typeface="Calibri"/>
              </a:rPr>
              <a:t> Client</a:t>
            </a:r>
            <a:endParaRPr lang="en-US" sz="320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en-US" sz="2400" b="0" dirty="0">
                <a:solidFill>
                  <a:srgbClr val="FFFFFF"/>
                </a:solidFill>
                <a:latin typeface="Calibri"/>
              </a:rPr>
              <a:t>Windows WPF,  .NET</a:t>
            </a:r>
          </a:p>
        </p:txBody>
      </p:sp>
      <p:sp>
        <p:nvSpPr>
          <p:cNvPr id="68" name="Rounded Rectangle 12">
            <a:extLst>
              <a:ext uri="{FF2B5EF4-FFF2-40B4-BE49-F238E27FC236}">
                <a16:creationId xmlns:a16="http://schemas.microsoft.com/office/drawing/2014/main" id="{9FF02332-011D-181C-D294-D4CE5202B965}"/>
              </a:ext>
            </a:extLst>
          </p:cNvPr>
          <p:cNvSpPr/>
          <p:nvPr/>
        </p:nvSpPr>
        <p:spPr>
          <a:xfrm>
            <a:off x="19355104" y="11155680"/>
            <a:ext cx="5486400" cy="2926080"/>
          </a:xfrm>
          <a:prstGeom prst="roundRect">
            <a:avLst>
              <a:gd name="adj" fmla="val 12000"/>
            </a:avLst>
          </a:prstGeom>
          <a:solidFill>
            <a:srgbClr val="280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/>
            <a:r>
              <a:rPr sz="3200" b="1" dirty="0">
                <a:solidFill>
                  <a:srgbClr val="FFFFFF"/>
                </a:solidFill>
                <a:latin typeface="Calibri"/>
              </a:rPr>
              <a:t>Backend API</a:t>
            </a:r>
          </a:p>
          <a:p>
            <a:pPr algn="ctr"/>
            <a:r>
              <a:rPr sz="2400" b="0" dirty="0">
                <a:solidFill>
                  <a:srgbClr val="FFFFFF"/>
                </a:solidFill>
                <a:latin typeface="Calibri"/>
              </a:rPr>
              <a:t>ASP.NET Core + PostgreSQL</a:t>
            </a:r>
          </a:p>
          <a:p>
            <a:pPr algn="ctr"/>
            <a:r>
              <a:rPr sz="2400" b="0" dirty="0">
                <a:solidFill>
                  <a:srgbClr val="FFFFFF"/>
                </a:solidFill>
                <a:latin typeface="Calibri"/>
              </a:rPr>
              <a:t>hosted on the NY relay</a:t>
            </a:r>
            <a:r>
              <a:rPr lang="en-US" sz="2400" b="0" dirty="0">
                <a:solidFill>
                  <a:srgbClr val="FFFFFF"/>
                </a:solidFill>
                <a:latin typeface="Calibri"/>
              </a:rPr>
              <a:t> server</a:t>
            </a:r>
            <a:endParaRPr sz="24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9" name="Rounded Rectangle 13">
            <a:extLst>
              <a:ext uri="{FF2B5EF4-FFF2-40B4-BE49-F238E27FC236}">
                <a16:creationId xmlns:a16="http://schemas.microsoft.com/office/drawing/2014/main" id="{FD5D3EC5-B1BA-F611-B196-B19517B0C074}"/>
              </a:ext>
            </a:extLst>
          </p:cNvPr>
          <p:cNvSpPr/>
          <p:nvPr/>
        </p:nvSpPr>
        <p:spPr>
          <a:xfrm>
            <a:off x="26060400" y="9486901"/>
            <a:ext cx="5394960" cy="2286000"/>
          </a:xfrm>
          <a:prstGeom prst="roundRect">
            <a:avLst>
              <a:gd name="adj" fmla="val 12000"/>
            </a:avLst>
          </a:prstGeom>
          <a:solidFill>
            <a:srgbClr val="280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/>
            <a:r>
              <a:rPr sz="3000" b="1" dirty="0">
                <a:solidFill>
                  <a:srgbClr val="FFFFFF"/>
                </a:solidFill>
                <a:latin typeface="Calibri"/>
              </a:rPr>
              <a:t>Relay · New York</a:t>
            </a:r>
          </a:p>
          <a:p>
            <a:pPr algn="ctr"/>
            <a:r>
              <a:rPr sz="2400" b="0" dirty="0" err="1">
                <a:solidFill>
                  <a:srgbClr val="FFFFFF"/>
                </a:solidFill>
                <a:latin typeface="Calibri"/>
              </a:rPr>
              <a:t>DigitalOcean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 nyc3</a:t>
            </a:r>
          </a:p>
        </p:txBody>
      </p:sp>
      <p:sp>
        <p:nvSpPr>
          <p:cNvPr id="70" name="Rounded Rectangle 14">
            <a:extLst>
              <a:ext uri="{FF2B5EF4-FFF2-40B4-BE49-F238E27FC236}">
                <a16:creationId xmlns:a16="http://schemas.microsoft.com/office/drawing/2014/main" id="{59A3BC11-35E3-4CCB-3D63-E58B23918BD3}"/>
              </a:ext>
            </a:extLst>
          </p:cNvPr>
          <p:cNvSpPr/>
          <p:nvPr/>
        </p:nvSpPr>
        <p:spPr>
          <a:xfrm>
            <a:off x="26030224" y="13624560"/>
            <a:ext cx="5394960" cy="2286000"/>
          </a:xfrm>
          <a:prstGeom prst="roundRect">
            <a:avLst>
              <a:gd name="adj" fmla="val 12000"/>
            </a:avLst>
          </a:prstGeom>
          <a:solidFill>
            <a:srgbClr val="280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Relay · Germany</a:t>
            </a:r>
          </a:p>
          <a:p>
            <a:pPr algn="ctr"/>
            <a:r>
              <a:rPr sz="2400" b="0">
                <a:solidFill>
                  <a:srgbClr val="FFFFFF"/>
                </a:solidFill>
                <a:latin typeface="Calibri"/>
              </a:rPr>
              <a:t>DigitalOcean fra1</a:t>
            </a:r>
          </a:p>
        </p:txBody>
      </p:sp>
      <p:cxnSp>
        <p:nvCxnSpPr>
          <p:cNvPr id="71" name="Connector 15">
            <a:extLst>
              <a:ext uri="{FF2B5EF4-FFF2-40B4-BE49-F238E27FC236}">
                <a16:creationId xmlns:a16="http://schemas.microsoft.com/office/drawing/2014/main" id="{897A0C82-9B6E-1B20-172C-91C18E9042C1}"/>
              </a:ext>
            </a:extLst>
          </p:cNvPr>
          <p:cNvCxnSpPr/>
          <p:nvPr/>
        </p:nvCxnSpPr>
        <p:spPr>
          <a:xfrm>
            <a:off x="17389144" y="12618720"/>
            <a:ext cx="1920240" cy="0"/>
          </a:xfrm>
          <a:prstGeom prst="line">
            <a:avLst/>
          </a:prstGeom>
          <a:ln w="76200">
            <a:solidFill>
              <a:srgbClr val="5A2D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87C232C9-A085-73DD-29F7-17A68F46137B}"/>
              </a:ext>
            </a:extLst>
          </p:cNvPr>
          <p:cNvSpPr txBox="1"/>
          <p:nvPr/>
        </p:nvSpPr>
        <p:spPr>
          <a:xfrm>
            <a:off x="17389144" y="11880949"/>
            <a:ext cx="1920240" cy="646331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 dirty="0">
                <a:solidFill>
                  <a:srgbClr val="5A2D82"/>
                </a:solidFill>
                <a:latin typeface="Calibri"/>
              </a:rPr>
              <a:t>HTTPS</a:t>
            </a:r>
          </a:p>
          <a:p>
            <a:pPr algn="ctr">
              <a:spcAft>
                <a:spcPts val="0"/>
              </a:spcAft>
            </a:pPr>
            <a:r>
              <a:rPr sz="2000" b="0" i="0" dirty="0">
                <a:solidFill>
                  <a:srgbClr val="595959"/>
                </a:solidFill>
                <a:latin typeface="Calibri"/>
              </a:rPr>
              <a:t>JWT</a:t>
            </a:r>
          </a:p>
        </p:txBody>
      </p:sp>
      <p:cxnSp>
        <p:nvCxnSpPr>
          <p:cNvPr id="73" name="Connector 17">
            <a:extLst>
              <a:ext uri="{FF2B5EF4-FFF2-40B4-BE49-F238E27FC236}">
                <a16:creationId xmlns:a16="http://schemas.microsoft.com/office/drawing/2014/main" id="{6F6B9C91-48FB-E691-391F-F1389C7AB49F}"/>
              </a:ext>
            </a:extLst>
          </p:cNvPr>
          <p:cNvCxnSpPr>
            <a:cxnSpLocks/>
          </p:cNvCxnSpPr>
          <p:nvPr/>
        </p:nvCxnSpPr>
        <p:spPr>
          <a:xfrm flipV="1">
            <a:off x="24887224" y="10583415"/>
            <a:ext cx="1173176" cy="1486665"/>
          </a:xfrm>
          <a:prstGeom prst="line">
            <a:avLst/>
          </a:prstGeom>
          <a:ln w="76200">
            <a:solidFill>
              <a:srgbClr val="5A2D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18">
            <a:extLst>
              <a:ext uri="{FF2B5EF4-FFF2-40B4-BE49-F238E27FC236}">
                <a16:creationId xmlns:a16="http://schemas.microsoft.com/office/drawing/2014/main" id="{9A34429A-935E-099B-F9A1-31E2EE34A769}"/>
              </a:ext>
            </a:extLst>
          </p:cNvPr>
          <p:cNvCxnSpPr/>
          <p:nvPr/>
        </p:nvCxnSpPr>
        <p:spPr>
          <a:xfrm>
            <a:off x="24887224" y="13258800"/>
            <a:ext cx="1097280" cy="1508759"/>
          </a:xfrm>
          <a:prstGeom prst="line">
            <a:avLst/>
          </a:prstGeom>
          <a:ln w="76200">
            <a:solidFill>
              <a:srgbClr val="5A2D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ounded Rectangle 25">
            <a:extLst>
              <a:ext uri="{FF2B5EF4-FFF2-40B4-BE49-F238E27FC236}">
                <a16:creationId xmlns:a16="http://schemas.microsoft.com/office/drawing/2014/main" id="{1203DE44-98C4-7613-A4A7-E22B8B8F6284}"/>
              </a:ext>
            </a:extLst>
          </p:cNvPr>
          <p:cNvSpPr/>
          <p:nvPr/>
        </p:nvSpPr>
        <p:spPr>
          <a:xfrm>
            <a:off x="11582704" y="20299680"/>
            <a:ext cx="20422209" cy="106070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38100">
            <a:solidFill>
              <a:srgbClr val="D9C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40688910-7942-FAD8-88DA-7967D0F8F7CE}"/>
              </a:ext>
            </a:extLst>
          </p:cNvPr>
          <p:cNvSpPr/>
          <p:nvPr/>
        </p:nvSpPr>
        <p:spPr>
          <a:xfrm>
            <a:off x="12131344" y="20802600"/>
            <a:ext cx="1051560" cy="1051560"/>
          </a:xfrm>
          <a:prstGeom prst="ellipse">
            <a:avLst/>
          </a:prstGeom>
          <a:solidFill>
            <a:srgbClr val="5A2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89037EA-94FD-9441-3713-D05EE48A8C6B}"/>
              </a:ext>
            </a:extLst>
          </p:cNvPr>
          <p:cNvSpPr txBox="1"/>
          <p:nvPr/>
        </p:nvSpPr>
        <p:spPr>
          <a:xfrm>
            <a:off x="13457224" y="20756880"/>
            <a:ext cx="18090489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1" i="0">
                <a:solidFill>
                  <a:srgbClr val="280334"/>
                </a:solidFill>
                <a:latin typeface="Calibri"/>
              </a:rPr>
              <a:t>Functional Requirements, Specifications &amp; Standards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4D8C7F4-FDA4-108C-7D76-27F5BABA79CD}"/>
              </a:ext>
            </a:extLst>
          </p:cNvPr>
          <p:cNvSpPr txBox="1"/>
          <p:nvPr/>
        </p:nvSpPr>
        <p:spPr>
          <a:xfrm>
            <a:off x="12131344" y="22174200"/>
            <a:ext cx="9296704" cy="6909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3400" b="1" i="0" dirty="0">
                <a:solidFill>
                  <a:srgbClr val="5A2D82"/>
                </a:solidFill>
                <a:latin typeface="Calibri"/>
              </a:rPr>
              <a:t>Functional requirements</a:t>
            </a:r>
          </a:p>
          <a:p>
            <a:pPr marL="411480" indent="-411480" algn="l">
              <a:spcAft>
                <a:spcPts val="1000"/>
              </a:spcAft>
              <a:buChar char="•"/>
            </a:pPr>
            <a:r>
              <a:rPr sz="3000" b="0" i="0" dirty="0">
                <a:solidFill>
                  <a:srgbClr val="1F1F1F"/>
                </a:solidFill>
                <a:latin typeface="Calibri"/>
              </a:rPr>
              <a:t>Register / log in (</a:t>
            </a:r>
            <a:r>
              <a:rPr sz="3000" b="0" i="0" dirty="0" err="1">
                <a:solidFill>
                  <a:srgbClr val="1F1F1F"/>
                </a:solidFill>
                <a:latin typeface="Calibri"/>
              </a:rPr>
              <a:t>BCrypt</a:t>
            </a:r>
            <a:r>
              <a:rPr sz="3000" b="0" i="0" dirty="0">
                <a:solidFill>
                  <a:srgbClr val="1F1F1F"/>
                </a:solidFill>
                <a:latin typeface="Calibri"/>
              </a:rPr>
              <a:t>, JWT)</a:t>
            </a:r>
          </a:p>
          <a:p>
            <a:pPr marL="411480" indent="-411480" algn="l">
              <a:spcAft>
                <a:spcPts val="1000"/>
              </a:spcAft>
              <a:buChar char="•"/>
            </a:pPr>
            <a:r>
              <a:rPr sz="3000" b="0" i="0" dirty="0">
                <a:solidFill>
                  <a:srgbClr val="1F1F1F"/>
                </a:solidFill>
                <a:latin typeface="Calibri"/>
              </a:rPr>
              <a:t>One active session per account</a:t>
            </a:r>
          </a:p>
          <a:p>
            <a:pPr marL="411480" indent="-411480" algn="l">
              <a:spcAft>
                <a:spcPts val="1000"/>
              </a:spcAft>
              <a:buChar char="•"/>
            </a:pPr>
            <a:r>
              <a:rPr sz="3000" b="0" i="0" dirty="0">
                <a:solidFill>
                  <a:srgbClr val="1F1F1F"/>
                </a:solidFill>
                <a:latin typeface="Calibri"/>
              </a:rPr>
              <a:t>Choose relay: New York or Germany</a:t>
            </a:r>
          </a:p>
          <a:p>
            <a:pPr marL="411480" indent="-411480" algn="l">
              <a:spcAft>
                <a:spcPts val="1000"/>
              </a:spcAft>
              <a:buChar char="•"/>
            </a:pPr>
            <a:r>
              <a:rPr sz="3000" b="0" i="0" dirty="0">
                <a:solidFill>
                  <a:srgbClr val="1F1F1F"/>
                </a:solidFill>
                <a:latin typeface="Calibri"/>
              </a:rPr>
              <a:t>Unique tunnel IP for every session</a:t>
            </a:r>
          </a:p>
          <a:p>
            <a:pPr marL="411480" indent="-411480" algn="l">
              <a:spcAft>
                <a:spcPts val="1000"/>
              </a:spcAft>
              <a:buChar char="•"/>
            </a:pPr>
            <a:r>
              <a:rPr sz="3000" b="0" i="0" dirty="0">
                <a:solidFill>
                  <a:srgbClr val="1F1F1F"/>
                </a:solidFill>
                <a:latin typeface="Calibri"/>
              </a:rPr>
              <a:t>Backend adds / removes </a:t>
            </a:r>
            <a:r>
              <a:rPr lang="en-US" sz="3000" dirty="0">
                <a:solidFill>
                  <a:srgbClr val="1F1F1F"/>
                </a:solidFill>
                <a:latin typeface="Calibri"/>
              </a:rPr>
              <a:t>devices on the relay</a:t>
            </a:r>
            <a:endParaRPr sz="3000" b="0" i="0" dirty="0">
              <a:solidFill>
                <a:srgbClr val="1F1F1F"/>
              </a:solidFill>
              <a:latin typeface="Calibri"/>
            </a:endParaRPr>
          </a:p>
          <a:p>
            <a:pPr marL="411480" indent="-411480" algn="l">
              <a:spcAft>
                <a:spcPts val="1000"/>
              </a:spcAft>
              <a:buChar char="•"/>
            </a:pPr>
            <a:r>
              <a:rPr sz="3000" b="0" i="0" dirty="0">
                <a:solidFill>
                  <a:srgbClr val="1F1F1F"/>
                </a:solidFill>
                <a:latin typeface="Calibri"/>
              </a:rPr>
              <a:t>Keys generated on the client only</a:t>
            </a:r>
          </a:p>
          <a:p>
            <a:pPr marL="411480" indent="-411480" algn="l">
              <a:spcAft>
                <a:spcPts val="1000"/>
              </a:spcAft>
              <a:buChar char="•"/>
            </a:pPr>
            <a:r>
              <a:rPr sz="3000" b="0" i="0" dirty="0">
                <a:solidFill>
                  <a:srgbClr val="1F1F1F"/>
                </a:solidFill>
                <a:latin typeface="Calibri"/>
              </a:rPr>
              <a:t>Connect, disconnect, live usage stats</a:t>
            </a:r>
          </a:p>
          <a:p>
            <a:pPr marL="411480" indent="-411480" algn="l">
              <a:spcAft>
                <a:spcPts val="1000"/>
              </a:spcAft>
              <a:buChar char="•"/>
            </a:pPr>
            <a:r>
              <a:rPr sz="3000" b="0" i="0" dirty="0">
                <a:solidFill>
                  <a:srgbClr val="1F1F1F"/>
                </a:solidFill>
                <a:latin typeface="Calibri"/>
              </a:rPr>
              <a:t>Kill switch blocks non-</a:t>
            </a:r>
            <a:r>
              <a:rPr lang="en-US" sz="3000" b="0" i="0" dirty="0">
                <a:solidFill>
                  <a:srgbClr val="1F1F1F"/>
                </a:solidFill>
                <a:latin typeface="Calibri"/>
              </a:rPr>
              <a:t>encrypted</a:t>
            </a:r>
            <a:r>
              <a:rPr sz="3000" b="0" i="0" dirty="0">
                <a:solidFill>
                  <a:srgbClr val="1F1F1F"/>
                </a:solidFill>
                <a:latin typeface="Calibri"/>
              </a:rPr>
              <a:t> traffic</a:t>
            </a:r>
            <a:r>
              <a:rPr lang="en-US" sz="3000" b="0" i="0" dirty="0">
                <a:solidFill>
                  <a:srgbClr val="1F1F1F"/>
                </a:solidFill>
                <a:latin typeface="Calibri"/>
              </a:rPr>
              <a:t> outside the tunnel</a:t>
            </a:r>
            <a:endParaRPr sz="3000" b="0" i="0" dirty="0">
              <a:solidFill>
                <a:srgbClr val="1F1F1F"/>
              </a:solidFill>
              <a:latin typeface="Calibri"/>
            </a:endParaRPr>
          </a:p>
          <a:p>
            <a:pPr marL="411480" indent="-411480" algn="l">
              <a:spcAft>
                <a:spcPts val="1000"/>
              </a:spcAft>
              <a:buChar char="•"/>
            </a:pPr>
            <a:r>
              <a:rPr lang="en-US" sz="3000" dirty="0">
                <a:solidFill>
                  <a:srgbClr val="1F1F1F"/>
                </a:solidFill>
                <a:latin typeface="Calibri"/>
              </a:rPr>
              <a:t>C</a:t>
            </a:r>
            <a:r>
              <a:rPr sz="3000" b="0" i="0" dirty="0">
                <a:solidFill>
                  <a:srgbClr val="1F1F1F"/>
                </a:solidFill>
                <a:latin typeface="Calibri"/>
              </a:rPr>
              <a:t>leanup after a crash</a:t>
            </a:r>
            <a:r>
              <a:rPr lang="en-US" sz="3000" b="0" i="0" dirty="0">
                <a:solidFill>
                  <a:srgbClr val="1F1F1F"/>
                </a:solidFill>
                <a:latin typeface="Calibri"/>
              </a:rPr>
              <a:t> or connection loss</a:t>
            </a:r>
            <a:endParaRPr sz="3000" b="0" i="0" dirty="0">
              <a:solidFill>
                <a:srgbClr val="1F1F1F"/>
              </a:solidFill>
              <a:latin typeface="Calibri"/>
            </a:endParaRPr>
          </a:p>
          <a:p>
            <a:pPr marL="411480" indent="-411480" algn="l">
              <a:spcAft>
                <a:spcPts val="1000"/>
              </a:spcAft>
              <a:buChar char="•"/>
            </a:pPr>
            <a:r>
              <a:rPr sz="3000" b="0" i="0" dirty="0">
                <a:solidFill>
                  <a:srgbClr val="1F1F1F"/>
                </a:solidFill>
                <a:latin typeface="Calibri"/>
              </a:rPr>
              <a:t>Relays built by Terraform + cloud-</a:t>
            </a:r>
            <a:r>
              <a:rPr sz="3000" b="0" i="0" dirty="0" err="1">
                <a:solidFill>
                  <a:srgbClr val="1F1F1F"/>
                </a:solidFill>
                <a:latin typeface="Calibri"/>
              </a:rPr>
              <a:t>init</a:t>
            </a:r>
            <a:endParaRPr sz="3000" b="0" i="0" dirty="0">
              <a:solidFill>
                <a:srgbClr val="1F1F1F"/>
              </a:solidFill>
              <a:latin typeface="Calibri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56019F1-A7A5-EC01-AA7B-DC50ED370A3A}"/>
              </a:ext>
            </a:extLst>
          </p:cNvPr>
          <p:cNvSpPr txBox="1"/>
          <p:nvPr/>
        </p:nvSpPr>
        <p:spPr>
          <a:xfrm>
            <a:off x="22159569" y="22174200"/>
            <a:ext cx="9296704" cy="48013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3400" b="1" i="0" dirty="0">
                <a:solidFill>
                  <a:srgbClr val="5A2D82"/>
                </a:solidFill>
                <a:latin typeface="Calibri"/>
              </a:rPr>
              <a:t>Product specifications</a:t>
            </a:r>
          </a:p>
          <a:p>
            <a:pPr algn="l">
              <a:spcAft>
                <a:spcPts val="800"/>
              </a:spcAft>
            </a:pPr>
            <a:r>
              <a:rPr sz="2900" b="1" i="0" dirty="0">
                <a:solidFill>
                  <a:srgbClr val="280334"/>
                </a:solidFill>
                <a:latin typeface="Calibri"/>
              </a:rPr>
              <a:t>Client: </a:t>
            </a:r>
            <a:r>
              <a:rPr sz="2900" b="0" i="0" dirty="0">
                <a:solidFill>
                  <a:srgbClr val="1F1F1F"/>
                </a:solidFill>
                <a:latin typeface="Calibri"/>
              </a:rPr>
              <a:t>Windows 10/11</a:t>
            </a:r>
            <a:r>
              <a:rPr lang="en-US" sz="2900" b="0" i="0" dirty="0">
                <a:solidFill>
                  <a:srgbClr val="1F1F1F"/>
                </a:solidFill>
                <a:latin typeface="Calibri"/>
              </a:rPr>
              <a:t>, </a:t>
            </a:r>
            <a:r>
              <a:rPr sz="2900" b="0" i="0" dirty="0">
                <a:solidFill>
                  <a:srgbClr val="1F1F1F"/>
                </a:solidFill>
                <a:latin typeface="Calibri"/>
              </a:rPr>
              <a:t>.NET 8 WPF</a:t>
            </a:r>
            <a:r>
              <a:rPr lang="en-US" sz="2900" b="0" i="0" dirty="0">
                <a:solidFill>
                  <a:srgbClr val="1F1F1F"/>
                </a:solidFill>
                <a:latin typeface="Calibri"/>
              </a:rPr>
              <a:t>, </a:t>
            </a:r>
            <a:r>
              <a:rPr sz="2900" b="0" i="0" dirty="0" err="1">
                <a:solidFill>
                  <a:srgbClr val="1F1F1F"/>
                </a:solidFill>
                <a:latin typeface="Calibri"/>
              </a:rPr>
              <a:t>WireGuard</a:t>
            </a:r>
            <a:r>
              <a:rPr sz="2900" b="0" i="0" dirty="0">
                <a:solidFill>
                  <a:srgbClr val="1F1F1F"/>
                </a:solidFill>
                <a:latin typeface="Calibri"/>
              </a:rPr>
              <a:t> for Windows</a:t>
            </a:r>
          </a:p>
          <a:p>
            <a:pPr algn="l">
              <a:spcAft>
                <a:spcPts val="800"/>
              </a:spcAft>
            </a:pPr>
            <a:r>
              <a:rPr sz="2900" b="1" i="0" dirty="0">
                <a:solidFill>
                  <a:srgbClr val="280334"/>
                </a:solidFill>
                <a:latin typeface="Calibri"/>
              </a:rPr>
              <a:t>Backend: </a:t>
            </a:r>
            <a:r>
              <a:rPr sz="2900" b="0" i="0" dirty="0">
                <a:solidFill>
                  <a:srgbClr val="1F1F1F"/>
                </a:solidFill>
                <a:latin typeface="Calibri"/>
              </a:rPr>
              <a:t>ASP.NET Core 8</a:t>
            </a:r>
            <a:r>
              <a:rPr lang="en-US" sz="2900" b="0" i="0" dirty="0">
                <a:solidFill>
                  <a:srgbClr val="1F1F1F"/>
                </a:solidFill>
                <a:latin typeface="Calibri"/>
              </a:rPr>
              <a:t>,</a:t>
            </a:r>
            <a:r>
              <a:rPr sz="2900" b="0" i="0" dirty="0">
                <a:solidFill>
                  <a:srgbClr val="1F1F1F"/>
                </a:solidFill>
                <a:latin typeface="Calibri"/>
              </a:rPr>
              <a:t> EF Core</a:t>
            </a:r>
            <a:r>
              <a:rPr lang="en-US" sz="2900" b="0" i="0" dirty="0">
                <a:solidFill>
                  <a:srgbClr val="1F1F1F"/>
                </a:solidFill>
                <a:latin typeface="Calibri"/>
              </a:rPr>
              <a:t>, </a:t>
            </a:r>
            <a:r>
              <a:rPr sz="2900" b="0" i="0" dirty="0">
                <a:solidFill>
                  <a:srgbClr val="1F1F1F"/>
                </a:solidFill>
                <a:latin typeface="Calibri"/>
              </a:rPr>
              <a:t>PostgreSQL 14</a:t>
            </a:r>
            <a:r>
              <a:rPr lang="en-US" sz="2900" b="0" i="0" dirty="0">
                <a:solidFill>
                  <a:srgbClr val="1F1F1F"/>
                </a:solidFill>
                <a:latin typeface="Calibri"/>
              </a:rPr>
              <a:t>, </a:t>
            </a:r>
            <a:r>
              <a:rPr sz="2900" b="0" i="0" dirty="0">
                <a:solidFill>
                  <a:srgbClr val="1F1F1F"/>
                </a:solidFill>
                <a:latin typeface="Calibri"/>
              </a:rPr>
              <a:t>Ubuntu</a:t>
            </a:r>
          </a:p>
          <a:p>
            <a:pPr algn="l">
              <a:spcAft>
                <a:spcPts val="2000"/>
              </a:spcAft>
            </a:pPr>
            <a:r>
              <a:rPr sz="2900" b="1" i="0" dirty="0">
                <a:solidFill>
                  <a:srgbClr val="280334"/>
                </a:solidFill>
                <a:latin typeface="Calibri"/>
              </a:rPr>
              <a:t>Relays: </a:t>
            </a:r>
            <a:r>
              <a:rPr sz="2900" b="0" i="0" dirty="0" err="1">
                <a:solidFill>
                  <a:srgbClr val="1F1F1F"/>
                </a:solidFill>
                <a:latin typeface="Calibri"/>
              </a:rPr>
              <a:t>DigitalOcean</a:t>
            </a:r>
            <a:r>
              <a:rPr sz="2900" b="0" i="0" dirty="0">
                <a:solidFill>
                  <a:srgbClr val="1F1F1F"/>
                </a:solidFill>
                <a:latin typeface="Calibri"/>
              </a:rPr>
              <a:t> nyc3 + fra1</a:t>
            </a:r>
            <a:endParaRPr lang="en-US" sz="2900" b="0" i="0" dirty="0">
              <a:solidFill>
                <a:srgbClr val="1F1F1F"/>
              </a:solidFill>
              <a:latin typeface="Calibri"/>
            </a:endParaRPr>
          </a:p>
          <a:p>
            <a:pPr algn="l">
              <a:spcAft>
                <a:spcPts val="2000"/>
              </a:spcAft>
            </a:pPr>
            <a:r>
              <a:rPr sz="3400" b="1" i="0" dirty="0">
                <a:solidFill>
                  <a:srgbClr val="5A2D82"/>
                </a:solidFill>
                <a:latin typeface="Calibri"/>
              </a:rPr>
              <a:t>Standards</a:t>
            </a:r>
          </a:p>
          <a:p>
            <a:pPr marL="411480" indent="-411480" algn="l">
              <a:spcAft>
                <a:spcPts val="800"/>
              </a:spcAft>
              <a:buChar char="•"/>
            </a:pPr>
            <a:r>
              <a:rPr sz="2900" b="0" i="0" dirty="0" err="1">
                <a:solidFill>
                  <a:srgbClr val="1F1F1F"/>
                </a:solidFill>
                <a:latin typeface="Calibri"/>
              </a:rPr>
              <a:t>WireGuard</a:t>
            </a:r>
            <a:r>
              <a:rPr sz="2900" b="0" i="0" dirty="0">
                <a:solidFill>
                  <a:srgbClr val="1F1F1F"/>
                </a:solidFill>
                <a:latin typeface="Calibri"/>
              </a:rPr>
              <a:t> </a:t>
            </a:r>
            <a:endParaRPr lang="en-US" sz="2900" b="0" i="0" dirty="0">
              <a:solidFill>
                <a:srgbClr val="1F1F1F"/>
              </a:solidFill>
              <a:latin typeface="Calibri"/>
            </a:endParaRPr>
          </a:p>
          <a:p>
            <a:pPr marL="411480" indent="-411480" algn="l">
              <a:spcAft>
                <a:spcPts val="800"/>
              </a:spcAft>
              <a:buChar char="•"/>
            </a:pPr>
            <a:r>
              <a:rPr sz="2900" b="0" i="0" dirty="0">
                <a:solidFill>
                  <a:srgbClr val="1F1F1F"/>
                </a:solidFill>
                <a:latin typeface="Calibri"/>
              </a:rPr>
              <a:t>TLS</a:t>
            </a:r>
            <a:r>
              <a:rPr lang="en-US" sz="2900" b="0" i="0" dirty="0">
                <a:solidFill>
                  <a:srgbClr val="1F1F1F"/>
                </a:solidFill>
                <a:latin typeface="Calibri"/>
              </a:rPr>
              <a:t> </a:t>
            </a:r>
            <a:r>
              <a:rPr sz="2900" b="0" i="0" dirty="0">
                <a:solidFill>
                  <a:srgbClr val="1F1F1F"/>
                </a:solidFill>
                <a:latin typeface="Calibri"/>
              </a:rPr>
              <a:t>with SHA-256 </a:t>
            </a:r>
            <a:endParaRPr lang="en-US" sz="2900" b="0" i="0" dirty="0">
              <a:solidFill>
                <a:srgbClr val="1F1F1F"/>
              </a:solidFill>
              <a:latin typeface="Calibri"/>
            </a:endParaRPr>
          </a:p>
          <a:p>
            <a:pPr marL="411480" indent="-411480" algn="l">
              <a:spcAft>
                <a:spcPts val="800"/>
              </a:spcAft>
              <a:buChar char="•"/>
            </a:pPr>
            <a:r>
              <a:rPr sz="2900" b="0" i="0" dirty="0">
                <a:solidFill>
                  <a:srgbClr val="1F1F1F"/>
                </a:solidFill>
                <a:latin typeface="Calibri"/>
              </a:rPr>
              <a:t>JWT; </a:t>
            </a:r>
            <a:r>
              <a:rPr sz="2900" b="0" i="0" dirty="0" err="1">
                <a:solidFill>
                  <a:srgbClr val="1F1F1F"/>
                </a:solidFill>
                <a:latin typeface="Calibri"/>
              </a:rPr>
              <a:t>BCrypt</a:t>
            </a:r>
            <a:r>
              <a:rPr sz="2900" b="0" i="0" dirty="0">
                <a:solidFill>
                  <a:srgbClr val="1F1F1F"/>
                </a:solidFill>
                <a:latin typeface="Calibri"/>
              </a:rPr>
              <a:t> hashing</a:t>
            </a:r>
          </a:p>
        </p:txBody>
      </p:sp>
      <p:sp>
        <p:nvSpPr>
          <p:cNvPr id="90" name="Rounded Rectangle 47">
            <a:extLst>
              <a:ext uri="{FF2B5EF4-FFF2-40B4-BE49-F238E27FC236}">
                <a16:creationId xmlns:a16="http://schemas.microsoft.com/office/drawing/2014/main" id="{8FCA48F1-7B6E-3889-3E5A-377B14ABB6EC}"/>
              </a:ext>
            </a:extLst>
          </p:cNvPr>
          <p:cNvSpPr/>
          <p:nvPr/>
        </p:nvSpPr>
        <p:spPr>
          <a:xfrm>
            <a:off x="11582704" y="31821119"/>
            <a:ext cx="20422209" cy="96926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38100">
            <a:solidFill>
              <a:srgbClr val="D9C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C507C416-77D7-5A3D-153E-56BCDE6BBD5D}"/>
              </a:ext>
            </a:extLst>
          </p:cNvPr>
          <p:cNvSpPr/>
          <p:nvPr/>
        </p:nvSpPr>
        <p:spPr>
          <a:xfrm>
            <a:off x="12131344" y="32324039"/>
            <a:ext cx="1051560" cy="1051560"/>
          </a:xfrm>
          <a:prstGeom prst="ellipse">
            <a:avLst/>
          </a:prstGeom>
          <a:solidFill>
            <a:srgbClr val="5A2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A6F66F3-A9C7-8B9D-2BAD-7B4113171D05}"/>
              </a:ext>
            </a:extLst>
          </p:cNvPr>
          <p:cNvSpPr txBox="1"/>
          <p:nvPr/>
        </p:nvSpPr>
        <p:spPr>
          <a:xfrm>
            <a:off x="13457224" y="32278319"/>
            <a:ext cx="18090489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1" i="0">
                <a:solidFill>
                  <a:srgbClr val="280334"/>
                </a:solidFill>
                <a:latin typeface="Calibri"/>
              </a:rPr>
              <a:t>Data Summaries</a:t>
            </a:r>
          </a:p>
        </p:txBody>
      </p:sp>
      <p:sp>
        <p:nvSpPr>
          <p:cNvPr id="96" name="Rounded Rectangle 50">
            <a:extLst>
              <a:ext uri="{FF2B5EF4-FFF2-40B4-BE49-F238E27FC236}">
                <a16:creationId xmlns:a16="http://schemas.microsoft.com/office/drawing/2014/main" id="{1E0BD742-82BC-02BD-0DAB-96E620B27C33}"/>
              </a:ext>
            </a:extLst>
          </p:cNvPr>
          <p:cNvSpPr/>
          <p:nvPr/>
        </p:nvSpPr>
        <p:spPr>
          <a:xfrm>
            <a:off x="12131344" y="33649920"/>
            <a:ext cx="4556912" cy="2286000"/>
          </a:xfrm>
          <a:prstGeom prst="roundRect">
            <a:avLst>
              <a:gd name="adj" fmla="val 10000"/>
            </a:avLst>
          </a:prstGeom>
          <a:solidFill>
            <a:srgbClr val="F6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1B18C461-7CD7-2DD9-1034-DCCD3EAC926D}"/>
              </a:ext>
            </a:extLst>
          </p:cNvPr>
          <p:cNvSpPr txBox="1"/>
          <p:nvPr/>
        </p:nvSpPr>
        <p:spPr>
          <a:xfrm>
            <a:off x="12131344" y="33896468"/>
            <a:ext cx="4556912" cy="10156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6600" b="1" i="0" dirty="0">
                <a:solidFill>
                  <a:srgbClr val="4F2171"/>
                </a:solidFill>
                <a:latin typeface="Calibri"/>
              </a:rPr>
              <a:t>43 / 43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9E2FAFE1-287A-E95E-2034-6B8F36E18CC3}"/>
              </a:ext>
            </a:extLst>
          </p:cNvPr>
          <p:cNvSpPr txBox="1"/>
          <p:nvPr/>
        </p:nvSpPr>
        <p:spPr>
          <a:xfrm>
            <a:off x="12314224" y="35021520"/>
            <a:ext cx="419115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595959"/>
                </a:solidFill>
                <a:latin typeface="Calibri"/>
              </a:rPr>
              <a:t>test cases passed</a:t>
            </a:r>
          </a:p>
        </p:txBody>
      </p:sp>
      <p:sp>
        <p:nvSpPr>
          <p:cNvPr id="102" name="Rounded Rectangle 53">
            <a:extLst>
              <a:ext uri="{FF2B5EF4-FFF2-40B4-BE49-F238E27FC236}">
                <a16:creationId xmlns:a16="http://schemas.microsoft.com/office/drawing/2014/main" id="{9943715D-1C27-133D-AC74-B17779B68BFD}"/>
              </a:ext>
            </a:extLst>
          </p:cNvPr>
          <p:cNvSpPr/>
          <p:nvPr/>
        </p:nvSpPr>
        <p:spPr>
          <a:xfrm>
            <a:off x="17054017" y="33649920"/>
            <a:ext cx="4556912" cy="2286000"/>
          </a:xfrm>
          <a:prstGeom prst="roundRect">
            <a:avLst>
              <a:gd name="adj" fmla="val 10000"/>
            </a:avLst>
          </a:prstGeom>
          <a:solidFill>
            <a:srgbClr val="F6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838791C-8C41-C51E-134D-716949331971}"/>
              </a:ext>
            </a:extLst>
          </p:cNvPr>
          <p:cNvSpPr txBox="1"/>
          <p:nvPr/>
        </p:nvSpPr>
        <p:spPr>
          <a:xfrm>
            <a:off x="17054017" y="33896468"/>
            <a:ext cx="4556912" cy="10156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sz="6600" b="1" dirty="0">
                <a:solidFill>
                  <a:srgbClr val="5A2D82"/>
                </a:solidFill>
                <a:latin typeface="Calibri"/>
              </a:rPr>
              <a:t>100</a:t>
            </a:r>
            <a:r>
              <a:rPr sz="6600" b="1" i="0" dirty="0">
                <a:solidFill>
                  <a:srgbClr val="5A2D82"/>
                </a:solidFill>
                <a:latin typeface="Calibri"/>
              </a:rPr>
              <a:t>%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FEE9CE55-8C6D-CE20-FA77-B0C911E80C63}"/>
              </a:ext>
            </a:extLst>
          </p:cNvPr>
          <p:cNvSpPr txBox="1"/>
          <p:nvPr/>
        </p:nvSpPr>
        <p:spPr>
          <a:xfrm>
            <a:off x="17236897" y="35021520"/>
            <a:ext cx="4191152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0" i="0" dirty="0">
                <a:solidFill>
                  <a:srgbClr val="595959"/>
                </a:solidFill>
                <a:latin typeface="Calibri"/>
              </a:rPr>
              <a:t>user stories done (2</a:t>
            </a:r>
            <a:r>
              <a:rPr lang="en-US" sz="2200" b="0" i="0" dirty="0">
                <a:solidFill>
                  <a:srgbClr val="595959"/>
                </a:solidFill>
                <a:latin typeface="Calibri"/>
              </a:rPr>
              <a:t>5</a:t>
            </a:r>
            <a:r>
              <a:rPr sz="2200" b="0" i="0" dirty="0">
                <a:solidFill>
                  <a:srgbClr val="595959"/>
                </a:solidFill>
                <a:latin typeface="Calibri"/>
              </a:rPr>
              <a:t> / 25)</a:t>
            </a:r>
          </a:p>
        </p:txBody>
      </p:sp>
      <p:sp>
        <p:nvSpPr>
          <p:cNvPr id="108" name="Rounded Rectangle 56">
            <a:extLst>
              <a:ext uri="{FF2B5EF4-FFF2-40B4-BE49-F238E27FC236}">
                <a16:creationId xmlns:a16="http://schemas.microsoft.com/office/drawing/2014/main" id="{5800B022-A40D-82DB-04B1-87C6FAA3539B}"/>
              </a:ext>
            </a:extLst>
          </p:cNvPr>
          <p:cNvSpPr/>
          <p:nvPr/>
        </p:nvSpPr>
        <p:spPr>
          <a:xfrm>
            <a:off x="21976689" y="33649920"/>
            <a:ext cx="4556912" cy="2286000"/>
          </a:xfrm>
          <a:prstGeom prst="roundRect">
            <a:avLst>
              <a:gd name="adj" fmla="val 10000"/>
            </a:avLst>
          </a:prstGeom>
          <a:solidFill>
            <a:srgbClr val="F6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4F7FB80F-0C9D-F63F-A132-92AEDDDF676C}"/>
              </a:ext>
            </a:extLst>
          </p:cNvPr>
          <p:cNvSpPr txBox="1"/>
          <p:nvPr/>
        </p:nvSpPr>
        <p:spPr>
          <a:xfrm>
            <a:off x="21976689" y="33896468"/>
            <a:ext cx="4556912" cy="10156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sz="6600" b="1" i="0" dirty="0">
                <a:solidFill>
                  <a:srgbClr val="5A2D82"/>
                </a:solidFill>
                <a:latin typeface="Calibri"/>
              </a:rPr>
              <a:t>26</a:t>
            </a:r>
            <a:endParaRPr sz="6600" b="1" i="0" dirty="0">
              <a:solidFill>
                <a:srgbClr val="5A2D82"/>
              </a:solidFill>
              <a:latin typeface="Calibri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0C497DEC-27CC-E6C5-6014-D1DA954F8AB9}"/>
              </a:ext>
            </a:extLst>
          </p:cNvPr>
          <p:cNvSpPr txBox="1"/>
          <p:nvPr/>
        </p:nvSpPr>
        <p:spPr>
          <a:xfrm>
            <a:off x="22159569" y="35021520"/>
            <a:ext cx="4191152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sz="2200" b="0" i="0" dirty="0">
                <a:solidFill>
                  <a:srgbClr val="595959"/>
                </a:solidFill>
                <a:latin typeface="Calibri"/>
              </a:rPr>
              <a:t>D</a:t>
            </a:r>
            <a:r>
              <a:rPr sz="2200" b="0" i="0" dirty="0">
                <a:solidFill>
                  <a:srgbClr val="595959"/>
                </a:solidFill>
                <a:latin typeface="Calibri"/>
              </a:rPr>
              <a:t>efects</a:t>
            </a:r>
            <a:r>
              <a:rPr lang="en-US" sz="2200" b="0" i="0" dirty="0">
                <a:solidFill>
                  <a:srgbClr val="595959"/>
                </a:solidFill>
                <a:latin typeface="Calibri"/>
              </a:rPr>
              <a:t>/bugs</a:t>
            </a:r>
            <a:r>
              <a:rPr sz="2200" b="0" i="0" dirty="0">
                <a:solidFill>
                  <a:srgbClr val="595959"/>
                </a:solidFill>
                <a:latin typeface="Calibri"/>
              </a:rPr>
              <a:t> found &amp; fixed</a:t>
            </a:r>
          </a:p>
        </p:txBody>
      </p:sp>
      <p:sp>
        <p:nvSpPr>
          <p:cNvPr id="114" name="Rounded Rectangle 59">
            <a:extLst>
              <a:ext uri="{FF2B5EF4-FFF2-40B4-BE49-F238E27FC236}">
                <a16:creationId xmlns:a16="http://schemas.microsoft.com/office/drawing/2014/main" id="{E23EB44A-77DE-B65D-D393-FBB2850897BA}"/>
              </a:ext>
            </a:extLst>
          </p:cNvPr>
          <p:cNvSpPr/>
          <p:nvPr/>
        </p:nvSpPr>
        <p:spPr>
          <a:xfrm>
            <a:off x="26899362" y="33649920"/>
            <a:ext cx="4556912" cy="2286000"/>
          </a:xfrm>
          <a:prstGeom prst="roundRect">
            <a:avLst>
              <a:gd name="adj" fmla="val 10000"/>
            </a:avLst>
          </a:prstGeom>
          <a:solidFill>
            <a:srgbClr val="F6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CF3E3A16-DE79-B10B-5AEC-9C875A56DE4C}"/>
              </a:ext>
            </a:extLst>
          </p:cNvPr>
          <p:cNvSpPr txBox="1"/>
          <p:nvPr/>
        </p:nvSpPr>
        <p:spPr>
          <a:xfrm>
            <a:off x="26899362" y="33741360"/>
            <a:ext cx="4556912" cy="1325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6600" b="1" i="0">
                <a:solidFill>
                  <a:srgbClr val="5A2D82"/>
                </a:solidFill>
                <a:latin typeface="Calibri"/>
              </a:rPr>
              <a:t>0.6 s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3776D205-0CAA-E277-0ECB-80346A6C6E83}"/>
              </a:ext>
            </a:extLst>
          </p:cNvPr>
          <p:cNvSpPr txBox="1"/>
          <p:nvPr/>
        </p:nvSpPr>
        <p:spPr>
          <a:xfrm>
            <a:off x="27082242" y="35021520"/>
            <a:ext cx="419115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595959"/>
                </a:solidFill>
                <a:latin typeface="Calibri"/>
              </a:rPr>
              <a:t>fail-fast when a relay is down</a:t>
            </a:r>
          </a:p>
        </p:txBody>
      </p:sp>
      <p:graphicFrame>
        <p:nvGraphicFramePr>
          <p:cNvPr id="120" name="Chart 119">
            <a:extLst>
              <a:ext uri="{FF2B5EF4-FFF2-40B4-BE49-F238E27FC236}">
                <a16:creationId xmlns:a16="http://schemas.microsoft.com/office/drawing/2014/main" id="{41FA5D85-4C61-D3E0-B861-F479582A6A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5935826"/>
              </p:ext>
            </p:extLst>
          </p:nvPr>
        </p:nvGraphicFramePr>
        <p:xfrm>
          <a:off x="12039903" y="36164520"/>
          <a:ext cx="19318117" cy="5120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523442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107</TotalTime>
  <Words>459</Words>
  <Application/>
  <PresentationFormat>Custom</PresentationFormat>
  <Paragraphs>68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10</cp:revision>
  <dcterms:created xsi:type="dcterms:W3CDTF">2018-09-14T20:10:55Z</dcterms:created>
  <dcterms:modified xsi:type="dcterms:W3CDTF">2026-09-27T18:47:14Z</dcterms:modified>
</cp:coreProperties>
</file>