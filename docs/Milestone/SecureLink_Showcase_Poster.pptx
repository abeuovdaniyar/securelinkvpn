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0334"/>
    <a:srgbClr val="4F2171"/>
    <a:srgbClr val="441D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806B4-9F47-40AB-9C55-77790E060F2F}" v="3" dt="2024-11-12T17:56:15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33" d="100"/>
          <a:sy n="33" d="100"/>
        </p:scale>
        <p:origin x="1428" y="-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Lipp (GCE)" userId="ddad3de7-a67b-433d-94cc-b10c6e15069c" providerId="ADAL" clId="{DDD806B4-9F47-40AB-9C55-77790E060F2F}"/>
    <pc:docChg chg="undo custSel modSld">
      <pc:chgData name="Michelle Lipp (GCE)" userId="ddad3de7-a67b-433d-94cc-b10c6e15069c" providerId="ADAL" clId="{DDD806B4-9F47-40AB-9C55-77790E060F2F}" dt="2024-11-12T17:58:02.137" v="74" actId="20577"/>
      <pc:docMkLst>
        <pc:docMk/>
      </pc:docMkLst>
      <pc:sldChg chg="addSp delSp modSp mod">
        <pc:chgData name="Michelle Lipp (GCE)" userId="ddad3de7-a67b-433d-94cc-b10c6e15069c" providerId="ADAL" clId="{DDD806B4-9F47-40AB-9C55-77790E060F2F}" dt="2024-11-12T17:58:02.137" v="74" actId="20577"/>
        <pc:sldMkLst>
          <pc:docMk/>
          <pc:sldMk cId="3523442882" sldId="256"/>
        </pc:sldMkLst>
        <pc:spChg chg="mod">
          <ac:chgData name="Michelle Lipp (GCE)" userId="ddad3de7-a67b-433d-94cc-b10c6e15069c" providerId="ADAL" clId="{DDD806B4-9F47-40AB-9C55-77790E060F2F}" dt="2024-11-12T17:58:02.137" v="74" actId="20577"/>
          <ac:spMkLst>
            <pc:docMk/>
            <pc:sldMk cId="3523442882" sldId="256"/>
            <ac:spMk id="14" creationId="{00000000-0000-0000-0000-000000000000}"/>
          </ac:spMkLst>
        </pc:spChg>
        <pc:picChg chg="add mod">
          <ac:chgData name="Michelle Lipp (GCE)" userId="ddad3de7-a67b-433d-94cc-b10c6e15069c" providerId="ADAL" clId="{DDD806B4-9F47-40AB-9C55-77790E060F2F}" dt="2024-11-12T17:55:59.732" v="3"/>
          <ac:picMkLst>
            <pc:docMk/>
            <pc:sldMk cId="3523442882" sldId="256"/>
            <ac:picMk id="2" creationId="{42234848-BC68-584A-F1EF-BFDFD4DA8969}"/>
          </ac:picMkLst>
        </pc:picChg>
        <pc:picChg chg="add mod">
          <ac:chgData name="Michelle Lipp (GCE)" userId="ddad3de7-a67b-433d-94cc-b10c6e15069c" providerId="ADAL" clId="{DDD806B4-9F47-40AB-9C55-77790E060F2F}" dt="2024-11-12T17:56:46.077" v="15" actId="1076"/>
          <ac:picMkLst>
            <pc:docMk/>
            <pc:sldMk cId="3523442882" sldId="256"/>
            <ac:picMk id="3" creationId="{5C2C354B-5570-E4E3-B400-F36CB4050B60}"/>
          </ac:picMkLst>
        </pc:picChg>
        <pc:picChg chg="del">
          <ac:chgData name="Michelle Lipp (GCE)" userId="ddad3de7-a67b-433d-94cc-b10c6e15069c" providerId="ADAL" clId="{DDD806B4-9F47-40AB-9C55-77790E060F2F}" dt="2024-11-12T17:56:10.656" v="10" actId="478"/>
          <ac:picMkLst>
            <pc:docMk/>
            <pc:sldMk cId="3523442882" sldId="256"/>
            <ac:picMk id="5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9.611" v="9" actId="478"/>
          <ac:picMkLst>
            <pc:docMk/>
            <pc:sldMk cId="3523442882" sldId="256"/>
            <ac:picMk id="7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8.624" v="8" actId="478"/>
          <ac:picMkLst>
            <pc:docMk/>
            <pc:sldMk cId="3523442882" sldId="256"/>
            <ac:picMk id="8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7.752" v="7" actId="478"/>
          <ac:picMkLst>
            <pc:docMk/>
            <pc:sldMk cId="3523442882" sldId="256"/>
            <ac:picMk id="9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6.789" v="6" actId="478"/>
          <ac:picMkLst>
            <pc:docMk/>
            <pc:sldMk cId="3523442882" sldId="256"/>
            <ac:picMk id="10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5.874" v="5" actId="478"/>
          <ac:picMkLst>
            <pc:docMk/>
            <pc:sldMk cId="3523442882" sldId="256"/>
            <ac:picMk id="11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4.113" v="4" actId="478"/>
          <ac:picMkLst>
            <pc:docMk/>
            <pc:sldMk cId="3523442882" sldId="256"/>
            <ac:picMk id="12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2400" b="1">
                <a:solidFill>
                  <a:srgbClr val="280334"/>
                </a:solidFill>
                <a:latin typeface="Calibri"/>
              </a:rPr>
              <a:t>Test cases per module — all passed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5A2D8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00" b="1">
                    <a:solidFill>
                      <a:srgbClr val="280334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Infrastructure</c:v>
                </c:pt>
                <c:pt idx="1">
                  <c:v>SSH tunnel</c:v>
                </c:pt>
                <c:pt idx="2">
                  <c:v>Admin</c:v>
                </c:pt>
                <c:pt idx="3">
                  <c:v>Relay gateway</c:v>
                </c:pt>
                <c:pt idx="4">
                  <c:v>Kill switch</c:v>
                </c:pt>
                <c:pt idx="5">
                  <c:v>WireGuard tunnel</c:v>
                </c:pt>
                <c:pt idx="6">
                  <c:v>Sessions</c:v>
                </c:pt>
                <c:pt idx="7">
                  <c:v>Authentication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8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6</c:v>
                </c:pt>
                <c:pt idx="6">
                  <c:v>7</c:v>
                </c:pt>
                <c:pt idx="7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604-4B0D-AC6D-8AD6481A436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CCE8"/>
            </a:solidFill>
          </a:ln>
        </c:spPr>
        <c:txPr>
          <a:bodyPr/>
          <a:lstStyle/>
          <a:p>
            <a:pPr>
              <a:defRPr sz="2000">
                <a:solidFill>
                  <a:srgbClr val="1F1F1F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.5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7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5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1913-F300-43E2-BF3B-5FB217FBE68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/>
          </p:cNvSpPr>
          <p:nvPr/>
        </p:nvSpPr>
        <p:spPr>
          <a:xfrm>
            <a:off x="1" y="-9"/>
            <a:ext cx="32918399" cy="6240024"/>
          </a:xfrm>
          <a:prstGeom prst="rect">
            <a:avLst/>
          </a:prstGeom>
          <a:solidFill>
            <a:srgbClr val="280334"/>
          </a:solidFill>
        </p:spPr>
        <p:txBody>
          <a:bodyPr wrap="square" lIns="914400" rIns="731520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3000" b="1" dirty="0">
                <a:solidFill>
                  <a:srgbClr val="FFFFFF"/>
                </a:solidFill>
                <a:latin typeface="Calibri"/>
              </a:rPr>
              <a:t>SecureLink</a:t>
            </a:r>
          </a:p>
          <a:p>
            <a:pPr algn="l">
              <a:spcAft>
                <a:spcPts val="600"/>
              </a:spcAft>
            </a:pPr>
            <a:r>
              <a:rPr lang="en-US" sz="5000" b="0" dirty="0">
                <a:solidFill>
                  <a:srgbClr val="FFFFFF"/>
                </a:solidFill>
                <a:latin typeface="Calibri"/>
              </a:rPr>
              <a:t>A self-hosted WireGuard VPN for Windows with a leak-proof kill switch</a:t>
            </a:r>
            <a:endParaRPr lang="en-US" sz="7200" dirty="0">
              <a:solidFill>
                <a:schemeClr val="bg1"/>
              </a:solidFill>
            </a:endParaRPr>
          </a:p>
          <a:p>
            <a:pPr algn="l">
              <a:spcAft>
                <a:spcPts val="600"/>
              </a:spcAft>
            </a:pPr>
            <a:r>
              <a:rPr sz="3800" b="0">
                <a:solidFill>
                  <a:srgbClr val="FFFFFF"/>
                </a:solidFill>
                <a:latin typeface="Calibri"/>
              </a:rPr>
              <a:t>Daniyar (Danny) Abeuov  ·  CST-452 Computer Science Capstone II  ·  Grand Canyon University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2C354B-5570-E4E3-B400-F36CB405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240" y="512064"/>
            <a:ext cx="521208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720840"/>
            <a:ext cx="31089600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0" i="1">
                <a:solidFill>
                  <a:srgbClr val="5A2D82"/>
                </a:solidFill>
                <a:latin typeface="Calibri"/>
              </a:rPr>
              <a:t>Private internet access I own end-to-end: my own encrypted WireGuard relays in New York and Frankfurt, a Windows client that sets everything up in one click, and a kill switch that never lets traffic leak.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8961120"/>
            <a:ext cx="9753904" cy="10424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63040" y="9464040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9418320"/>
            <a:ext cx="742218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Project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0835640"/>
            <a:ext cx="8656624" cy="6658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3400" b="0" i="0" dirty="0" err="1">
                <a:solidFill>
                  <a:srgbClr val="1F1F1F"/>
                </a:solidFill>
                <a:latin typeface="Calibri"/>
              </a:rPr>
              <a:t>SecureLink</a:t>
            </a:r>
            <a:r>
              <a:rPr sz="3400" b="0" i="0" dirty="0">
                <a:solidFill>
                  <a:srgbClr val="1F1F1F"/>
                </a:solidFill>
                <a:latin typeface="Calibri"/>
              </a:rPr>
              <a:t> is a complete VPN system — desktop client, backend API and relay servers — that I designed, built and deployed.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 Windows (WPF) app opens an encrypted </a:t>
            </a:r>
            <a:r>
              <a:rPr sz="3100" b="0" i="0" dirty="0" err="1">
                <a:solidFill>
                  <a:srgbClr val="1F1F1F"/>
                </a:solidFill>
                <a:latin typeface="Calibri"/>
              </a:rPr>
              <a:t>WireGuard</a:t>
            </a:r>
            <a:r>
              <a:rPr sz="3100" b="0" i="0" dirty="0">
                <a:solidFill>
                  <a:srgbClr val="1F1F1F"/>
                </a:solidFill>
                <a:latin typeface="Calibri"/>
              </a:rPr>
              <a:t> tunnel to a relay in New York or Germany.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Encryption keys are created on the user's PC; the private key never leaves it.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An ASP.NET Core backend manages accounts, enforces one session per user</a:t>
            </a:r>
            <a:r>
              <a:rPr lang="en-US" sz="3100" dirty="0">
                <a:solidFill>
                  <a:srgbClr val="1F1F1F"/>
                </a:solidFill>
                <a:latin typeface="Calibri"/>
              </a:rPr>
              <a:t>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 kill switch blocks all traffic outside the tunnel, and the app cleans up automatically after a crash.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82704" y="8961120"/>
            <a:ext cx="20422209" cy="10424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31344" y="9418320"/>
            <a:ext cx="1941636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31344" y="11155680"/>
            <a:ext cx="5212080" cy="2926080"/>
          </a:xfrm>
          <a:prstGeom prst="roundRect">
            <a:avLst>
              <a:gd name="adj" fmla="val 12000"/>
            </a:avLst>
          </a:prstGeom>
          <a:solidFill>
            <a:srgbClr val="280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SecureLink Client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Windows · WPF · .NET 8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local keys · kill switch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355104" y="11155680"/>
            <a:ext cx="5486400" cy="2926080"/>
          </a:xfrm>
          <a:prstGeom prst="roundRect">
            <a:avLst>
              <a:gd name="adj" fmla="val 12000"/>
            </a:avLst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Backend API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ASP.NET Core + PostgreSQL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hosted on the NY relay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30224" y="1078992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280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Calibri"/>
              </a:rPr>
              <a:t>Relay · New York</a:t>
            </a:r>
          </a:p>
          <a:p>
            <a:pPr algn="ctr"/>
            <a:r>
              <a:rPr sz="2400" b="0" dirty="0" err="1">
                <a:solidFill>
                  <a:srgbClr val="FFFFFF"/>
                </a:solidFill>
                <a:latin typeface="Calibri"/>
              </a:rPr>
              <a:t>DigitalOcean</a:t>
            </a:r>
            <a:r>
              <a:rPr sz="2400" b="0" dirty="0">
                <a:solidFill>
                  <a:srgbClr val="FFFFFF"/>
                </a:solidFill>
                <a:latin typeface="Calibri"/>
              </a:rPr>
              <a:t> nyc3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30224" y="13624560"/>
            <a:ext cx="5394960" cy="2286000"/>
          </a:xfrm>
          <a:prstGeom prst="roundRect">
            <a:avLst>
              <a:gd name="adj" fmla="val 12000"/>
            </a:avLst>
          </a:prstGeom>
          <a:solidFill>
            <a:srgbClr val="280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Relay · Germany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DigitalOcean fra1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89144" y="12618720"/>
            <a:ext cx="1920240" cy="0"/>
          </a:xfrm>
          <a:prstGeom prst="line">
            <a:avLst/>
          </a:prstGeom>
          <a:ln w="76200">
            <a:solidFill>
              <a:srgbClr val="5A2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389144" y="10789920"/>
            <a:ext cx="1920240" cy="17373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5A2D82"/>
                </a:solidFill>
                <a:latin typeface="Calibri"/>
              </a:rPr>
              <a:t>HTTPS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5959"/>
                </a:solidFill>
                <a:latin typeface="Calibri"/>
              </a:rPr>
              <a:t>JWT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595959"/>
                </a:solidFill>
                <a:latin typeface="Calibri"/>
              </a:rPr>
              <a:t>pinned TLS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4887224" y="11932920"/>
            <a:ext cx="1097280" cy="137160"/>
          </a:xfrm>
          <a:prstGeom prst="line">
            <a:avLst/>
          </a:prstGeom>
          <a:ln w="76200">
            <a:solidFill>
              <a:srgbClr val="5A2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4887224" y="13258800"/>
            <a:ext cx="1097280" cy="1508759"/>
          </a:xfrm>
          <a:prstGeom prst="line">
            <a:avLst/>
          </a:prstGeom>
          <a:ln w="76200">
            <a:solidFill>
              <a:srgbClr val="5A2D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355104" y="14218920"/>
            <a:ext cx="54864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 dirty="0">
                <a:solidFill>
                  <a:srgbClr val="5A2D82"/>
                </a:solidFill>
                <a:latin typeface="Calibri"/>
              </a:rPr>
              <a:t>adds / removes peer</a:t>
            </a:r>
            <a:r>
              <a:rPr lang="en-US" sz="2000" b="1" i="0" dirty="0">
                <a:solidFill>
                  <a:srgbClr val="5A2D82"/>
                </a:solidFill>
                <a:latin typeface="Calibri"/>
              </a:rPr>
              <a:t> connections</a:t>
            </a:r>
            <a:r>
              <a:rPr sz="2000" b="1" i="0" dirty="0">
                <a:solidFill>
                  <a:srgbClr val="5A2D82"/>
                </a:solidFill>
                <a:latin typeface="Calibri"/>
              </a:rPr>
              <a:t>:</a:t>
            </a:r>
          </a:p>
          <a:p>
            <a:pPr algn="ctr">
              <a:spcAft>
                <a:spcPts val="0"/>
              </a:spcAft>
            </a:pPr>
            <a:r>
              <a:rPr sz="2000" b="0" i="0" dirty="0">
                <a:solidFill>
                  <a:srgbClr val="595959"/>
                </a:solidFill>
                <a:latin typeface="Calibri"/>
              </a:rPr>
              <a:t>New York on localhost · Germany via SSH tunnel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2131344" y="16322040"/>
            <a:ext cx="19293840" cy="1737360"/>
          </a:xfrm>
          <a:prstGeom prst="rightArrow">
            <a:avLst>
              <a:gd name="adj1" fmla="val 62000"/>
              <a:gd name="adj2" fmla="val 35000"/>
            </a:avLst>
          </a:prstGeom>
          <a:solidFill>
            <a:srgbClr val="F6F2FA"/>
          </a:solidFill>
          <a:ln w="38100">
            <a:solidFill>
              <a:srgbClr val="5A2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/>
            <a:r>
              <a:rPr sz="2600" b="1">
                <a:solidFill>
                  <a:srgbClr val="280334"/>
                </a:solidFill>
                <a:latin typeface="Calibri"/>
              </a:rPr>
              <a:t>WireGuard tunnel  </a:t>
            </a:r>
            <a:r>
              <a:rPr sz="2600" b="0">
                <a:solidFill>
                  <a:srgbClr val="280334"/>
                </a:solidFill>
                <a:latin typeface="Calibri"/>
              </a:rPr>
              <a:t>UDP 51820 · all user traffic encrypted · exits to the internet at the chosen relay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0299680"/>
            <a:ext cx="9753904" cy="10607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463040" y="20802600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0756880"/>
            <a:ext cx="742218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Project Justification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2174200"/>
            <a:ext cx="8656624" cy="610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3200" b="0" i="0" dirty="0">
                <a:solidFill>
                  <a:srgbClr val="1F1F1F"/>
                </a:solidFill>
                <a:latin typeface="Calibri"/>
              </a:rPr>
              <a:t>Commercial VPNs ask you to trust a company with all of your traffic. Running your own </a:t>
            </a:r>
            <a:r>
              <a:rPr sz="3200" b="0" i="0" dirty="0" err="1">
                <a:solidFill>
                  <a:srgbClr val="1F1F1F"/>
                </a:solidFill>
                <a:latin typeface="Calibri"/>
              </a:rPr>
              <a:t>WireGuard</a:t>
            </a:r>
            <a:r>
              <a:rPr sz="3200" b="0" i="0" dirty="0">
                <a:solidFill>
                  <a:srgbClr val="1F1F1F"/>
                </a:solidFill>
                <a:latin typeface="Calibri"/>
              </a:rPr>
              <a:t> server </a:t>
            </a:r>
            <a:r>
              <a:rPr lang="en-US" sz="3200" dirty="0">
                <a:solidFill>
                  <a:srgbClr val="1F1F1F"/>
                </a:solidFill>
                <a:latin typeface="Calibri"/>
              </a:rPr>
              <a:t>saves money and ensures your data stays private.</a:t>
            </a:r>
            <a:endParaRPr sz="32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Control: my own servers, no third-party logging.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Automation: key exchange, peer setup and IP assignment happen for the user.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Safety: the kill switch and crash recovery prevent silent leaks.</a:t>
            </a:r>
          </a:p>
          <a:p>
            <a:pPr marL="411480" indent="-411480" algn="l">
              <a:spcAft>
                <a:spcPts val="1400"/>
              </a:spcAft>
              <a:buChar char="•"/>
            </a:pPr>
            <a:r>
              <a:rPr sz="3100" b="0" i="0" dirty="0">
                <a:solidFill>
                  <a:srgbClr val="1F1F1F"/>
                </a:solidFill>
                <a:latin typeface="Calibri"/>
              </a:rPr>
              <a:t>Right-sized: built for a small group family and friends on two low-cost cloud servers.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582704" y="20299680"/>
            <a:ext cx="20422209" cy="106070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2131344" y="20802600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57224" y="20756880"/>
            <a:ext cx="1809048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Functional Requirements, Specifications &amp; Standards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31344" y="22174200"/>
            <a:ext cx="9296704" cy="6447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 i="0" dirty="0">
                <a:solidFill>
                  <a:srgbClr val="5A2D82"/>
                </a:solidFill>
                <a:latin typeface="Calibri"/>
              </a:rPr>
              <a:t>Functional requirements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Register / log in (</a:t>
            </a:r>
            <a:r>
              <a:rPr sz="3000" b="0" i="0" dirty="0" err="1">
                <a:solidFill>
                  <a:srgbClr val="1F1F1F"/>
                </a:solidFill>
                <a:latin typeface="Calibri"/>
              </a:rPr>
              <a:t>BCrypt</a:t>
            </a:r>
            <a:r>
              <a:rPr sz="3000" b="0" i="0" dirty="0">
                <a:solidFill>
                  <a:srgbClr val="1F1F1F"/>
                </a:solidFill>
                <a:latin typeface="Calibri"/>
              </a:rPr>
              <a:t>, signed JWT)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One active session per account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Choose relay: New York or Germany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Unique tunnel IP for every session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Backend adds / removes relay peers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Keys generated on the client only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Connect, disconnect, live usage stats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Kill switch blocks non-tunnel traffic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Automatic cleanup after a crash</a:t>
            </a:r>
          </a:p>
          <a:p>
            <a:pPr marL="411480" indent="-411480" algn="l">
              <a:spcAft>
                <a:spcPts val="1000"/>
              </a:spcAft>
              <a:buChar char="•"/>
            </a:pPr>
            <a:r>
              <a:rPr sz="3000" b="0" i="0" dirty="0">
                <a:solidFill>
                  <a:srgbClr val="1F1F1F"/>
                </a:solidFill>
                <a:latin typeface="Calibri"/>
              </a:rPr>
              <a:t>Relays built by Terraform + cloud-</a:t>
            </a:r>
            <a:r>
              <a:rPr sz="3000" b="0" i="0" dirty="0" err="1">
                <a:solidFill>
                  <a:srgbClr val="1F1F1F"/>
                </a:solidFill>
                <a:latin typeface="Calibri"/>
              </a:rPr>
              <a:t>init</a:t>
            </a:r>
            <a:endParaRPr sz="3000" b="0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159569" y="22174200"/>
            <a:ext cx="9296704" cy="6586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3400" b="1" i="0" dirty="0">
                <a:solidFill>
                  <a:srgbClr val="5A2D82"/>
                </a:solidFill>
                <a:latin typeface="Calibri"/>
              </a:rPr>
              <a:t>Product specifications</a:t>
            </a:r>
          </a:p>
          <a:p>
            <a:pPr algn="l">
              <a:spcAft>
                <a:spcPts val="800"/>
              </a:spcAft>
            </a:pPr>
            <a:r>
              <a:rPr sz="2900" b="1" i="0" dirty="0">
                <a:solidFill>
                  <a:srgbClr val="280334"/>
                </a:solidFill>
                <a:latin typeface="Calibri"/>
              </a:rPr>
              <a:t>Client: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Windows 10/11 · .NET 8 WPF · </a:t>
            </a:r>
            <a:r>
              <a:rPr sz="2900" b="0" i="0" dirty="0" err="1">
                <a:solidFill>
                  <a:srgbClr val="1F1F1F"/>
                </a:solidFill>
                <a:latin typeface="Calibri"/>
              </a:rPr>
              <a:t>WireGuard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for Windows</a:t>
            </a:r>
          </a:p>
          <a:p>
            <a:pPr algn="l">
              <a:spcAft>
                <a:spcPts val="800"/>
              </a:spcAft>
            </a:pPr>
            <a:r>
              <a:rPr sz="2900" b="1" i="0" dirty="0">
                <a:solidFill>
                  <a:srgbClr val="280334"/>
                </a:solidFill>
                <a:latin typeface="Calibri"/>
              </a:rPr>
              <a:t>Backend: 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ASP.NET Core 8 · EF Core · PostgreSQL 14 · Ubuntu 22.04</a:t>
            </a:r>
          </a:p>
          <a:p>
            <a:pPr algn="l">
              <a:spcAft>
                <a:spcPts val="2000"/>
              </a:spcAft>
            </a:pPr>
            <a:r>
              <a:rPr sz="2900" b="1" i="0" dirty="0">
                <a:solidFill>
                  <a:srgbClr val="280334"/>
                </a:solidFill>
                <a:latin typeface="Calibri"/>
              </a:rPr>
              <a:t>Relays: </a:t>
            </a:r>
            <a:r>
              <a:rPr sz="2900" b="0" i="0" dirty="0" err="1">
                <a:solidFill>
                  <a:srgbClr val="1F1F1F"/>
                </a:solidFill>
                <a:latin typeface="Calibri"/>
              </a:rPr>
              <a:t>DigitalOcean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nyc3 + fra1 · UDP 51820 · a /24 subnet each (253 clients)</a:t>
            </a:r>
          </a:p>
          <a:p>
            <a:pPr algn="l">
              <a:spcAft>
                <a:spcPts val="1200"/>
              </a:spcAft>
            </a:pPr>
            <a:r>
              <a:rPr sz="3400" b="1" i="0" dirty="0">
                <a:solidFill>
                  <a:srgbClr val="5A2D82"/>
                </a:solidFill>
                <a:latin typeface="Calibri"/>
              </a:rPr>
              <a:t>Standards</a:t>
            </a:r>
          </a:p>
          <a:p>
            <a:pPr marL="411480" indent="-411480" algn="l">
              <a:spcAft>
                <a:spcPts val="800"/>
              </a:spcAft>
              <a:buChar char="•"/>
            </a:pPr>
            <a:r>
              <a:rPr sz="2900" b="0" i="0" dirty="0" err="1">
                <a:solidFill>
                  <a:srgbClr val="1F1F1F"/>
                </a:solidFill>
                <a:latin typeface="Calibri"/>
              </a:rPr>
              <a:t>WireGuard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</a:t>
            </a:r>
            <a:endParaRPr lang="en-US" sz="29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800"/>
              </a:spcAft>
              <a:buChar char="•"/>
            </a:pPr>
            <a:r>
              <a:rPr sz="2900" b="0" i="0" dirty="0">
                <a:solidFill>
                  <a:srgbClr val="1F1F1F"/>
                </a:solidFill>
                <a:latin typeface="Calibri"/>
              </a:rPr>
              <a:t>TLS 1.2 with SHA-256 </a:t>
            </a:r>
            <a:endParaRPr lang="en-US" sz="2900" b="0" i="0" dirty="0">
              <a:solidFill>
                <a:srgbClr val="1F1F1F"/>
              </a:solidFill>
              <a:latin typeface="Calibri"/>
            </a:endParaRPr>
          </a:p>
          <a:p>
            <a:pPr marL="411480" indent="-411480" algn="l">
              <a:spcAft>
                <a:spcPts val="800"/>
              </a:spcAft>
              <a:buChar char="•"/>
            </a:pPr>
            <a:r>
              <a:rPr sz="2900" b="0" i="0" dirty="0">
                <a:solidFill>
                  <a:srgbClr val="1F1F1F"/>
                </a:solidFill>
                <a:latin typeface="Calibri"/>
              </a:rPr>
              <a:t>JWT; </a:t>
            </a:r>
            <a:r>
              <a:rPr sz="2900" b="0" i="0" dirty="0" err="1">
                <a:solidFill>
                  <a:srgbClr val="1F1F1F"/>
                </a:solidFill>
                <a:latin typeface="Calibri"/>
              </a:rPr>
              <a:t>BCrypt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 hashing</a:t>
            </a:r>
          </a:p>
          <a:p>
            <a:pPr marL="411480" indent="-411480" algn="l">
              <a:spcAft>
                <a:spcPts val="800"/>
              </a:spcAft>
              <a:buChar char="•"/>
            </a:pPr>
            <a:r>
              <a:rPr sz="2900" b="0" i="0" dirty="0">
                <a:solidFill>
                  <a:srgbClr val="1F1F1F"/>
                </a:solidFill>
                <a:latin typeface="Calibri"/>
              </a:rPr>
              <a:t>Infrastructure as Code (Terraform, cloud-</a:t>
            </a:r>
            <a:r>
              <a:rPr sz="2900" b="0" i="0" dirty="0" err="1">
                <a:solidFill>
                  <a:srgbClr val="1F1F1F"/>
                </a:solidFill>
                <a:latin typeface="Calibri"/>
              </a:rPr>
              <a:t>init</a:t>
            </a:r>
            <a:r>
              <a:rPr sz="2900" b="0" i="0" dirty="0">
                <a:solidFill>
                  <a:srgbClr val="1F1F1F"/>
                </a:solidFill>
                <a:latin typeface="Calibri"/>
              </a:rPr>
              <a:t>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1821119"/>
            <a:ext cx="9753904" cy="9692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463040" y="32324039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32278319"/>
            <a:ext cx="7422184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Design Process</a:t>
            </a:r>
          </a:p>
        </p:txBody>
      </p:sp>
      <p:sp>
        <p:nvSpPr>
          <p:cNvPr id="34" name="Oval 33"/>
          <p:cNvSpPr/>
          <p:nvPr/>
        </p:nvSpPr>
        <p:spPr>
          <a:xfrm>
            <a:off x="1554480" y="33851088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1837943" y="34454592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77440" y="33741360"/>
            <a:ext cx="7833664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80334"/>
                </a:solidFill>
                <a:latin typeface="Calibri"/>
              </a:rPr>
              <a:t>Plan  </a:t>
            </a:r>
            <a:r>
              <a:rPr sz="2700" b="0" i="0">
                <a:solidFill>
                  <a:srgbClr val="1F1F1F"/>
                </a:solidFill>
                <a:latin typeface="Calibri"/>
              </a:rPr>
              <a:t>Proposal, user stories and functional requirements</a:t>
            </a:r>
          </a:p>
        </p:txBody>
      </p:sp>
      <p:sp>
        <p:nvSpPr>
          <p:cNvPr id="37" name="Oval 36"/>
          <p:cNvSpPr/>
          <p:nvPr/>
        </p:nvSpPr>
        <p:spPr>
          <a:xfrm>
            <a:off x="1554480" y="35332415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1837943" y="35935920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377440" y="35222688"/>
            <a:ext cx="7833664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280334"/>
                </a:solidFill>
                <a:latin typeface="Calibri"/>
              </a:rPr>
              <a:t>Design  </a:t>
            </a:r>
            <a:r>
              <a:rPr sz="2700" b="0" i="0">
                <a:solidFill>
                  <a:srgbClr val="1F1F1F"/>
                </a:solidFill>
                <a:latin typeface="Calibri"/>
              </a:rPr>
              <a:t>Architecture, data dictionary, API and security design</a:t>
            </a:r>
          </a:p>
        </p:txBody>
      </p:sp>
      <p:sp>
        <p:nvSpPr>
          <p:cNvPr id="40" name="Oval 39"/>
          <p:cNvSpPr/>
          <p:nvPr/>
        </p:nvSpPr>
        <p:spPr>
          <a:xfrm>
            <a:off x="1554480" y="36813744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1837943" y="37417248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377440" y="36704016"/>
            <a:ext cx="7833664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Build 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Agile sprints: 25 user stories</a:t>
            </a:r>
            <a:r>
              <a:rPr lang="en-US" sz="27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with a traceability matrix</a:t>
            </a:r>
          </a:p>
        </p:txBody>
      </p:sp>
      <p:sp>
        <p:nvSpPr>
          <p:cNvPr id="43" name="Oval 42"/>
          <p:cNvSpPr/>
          <p:nvPr/>
        </p:nvSpPr>
        <p:spPr>
          <a:xfrm>
            <a:off x="1554480" y="38295071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1837943" y="38898576"/>
            <a:ext cx="0" cy="841248"/>
          </a:xfrm>
          <a:prstGeom prst="line">
            <a:avLst/>
          </a:prstGeom>
          <a:ln w="50800">
            <a:solidFill>
              <a:srgbClr val="D9CC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77440" y="38185344"/>
            <a:ext cx="7833664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Test 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37 test cases on the live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9666671"/>
            <a:ext cx="7833664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280334"/>
                </a:solidFill>
                <a:latin typeface="Calibri"/>
              </a:rPr>
              <a:t>Release  </a:t>
            </a:r>
            <a:r>
              <a:rPr sz="2700" b="0" i="0" dirty="0">
                <a:solidFill>
                  <a:srgbClr val="1F1F1F"/>
                </a:solidFill>
                <a:latin typeface="Calibri"/>
              </a:rPr>
              <a:t>Milestone 6: token storage, tunnel health monitoring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82704" y="31821119"/>
            <a:ext cx="20422209" cy="9692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38100">
            <a:solidFill>
              <a:srgbClr val="D9C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2131344" y="32324039"/>
            <a:ext cx="1051560" cy="1051560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457224" y="32278319"/>
            <a:ext cx="1809048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80334"/>
                </a:solidFill>
                <a:latin typeface="Calibri"/>
              </a:rPr>
              <a:t>Data Summaries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131344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131344" y="33741360"/>
            <a:ext cx="4556912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600" b="1" i="0">
                <a:solidFill>
                  <a:srgbClr val="2E7D32"/>
                </a:solidFill>
                <a:latin typeface="Calibri"/>
              </a:rPr>
              <a:t>37 / 37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14224" y="35021520"/>
            <a:ext cx="41911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Calibri"/>
              </a:rPr>
              <a:t>test cases passed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7054017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7054017" y="33896468"/>
            <a:ext cx="4556912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6600" b="1" dirty="0">
                <a:solidFill>
                  <a:srgbClr val="5A2D82"/>
                </a:solidFill>
                <a:latin typeface="Calibri"/>
              </a:rPr>
              <a:t>100</a:t>
            </a:r>
            <a:r>
              <a:rPr sz="6600" b="1" i="0" dirty="0">
                <a:solidFill>
                  <a:srgbClr val="5A2D82"/>
                </a:solidFill>
                <a:latin typeface="Calibri"/>
              </a:rPr>
              <a:t>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236897" y="35021520"/>
            <a:ext cx="4191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 dirty="0">
                <a:solidFill>
                  <a:srgbClr val="595959"/>
                </a:solidFill>
                <a:latin typeface="Calibri"/>
              </a:rPr>
              <a:t>user stories done (2</a:t>
            </a:r>
            <a:r>
              <a:rPr lang="en-US" sz="2200" b="0" i="0" dirty="0">
                <a:solidFill>
                  <a:srgbClr val="595959"/>
                </a:solidFill>
                <a:latin typeface="Calibri"/>
              </a:rPr>
              <a:t>5</a:t>
            </a:r>
            <a:r>
              <a:rPr sz="2200" b="0" i="0" dirty="0">
                <a:solidFill>
                  <a:srgbClr val="595959"/>
                </a:solidFill>
                <a:latin typeface="Calibri"/>
              </a:rPr>
              <a:t> / 25)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976689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976689" y="33896468"/>
            <a:ext cx="4556912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6600" b="1" i="0" dirty="0">
                <a:solidFill>
                  <a:srgbClr val="5A2D82"/>
                </a:solidFill>
                <a:latin typeface="Calibri"/>
              </a:rPr>
              <a:t>26</a:t>
            </a:r>
            <a:endParaRPr sz="6600" b="1" i="0" dirty="0">
              <a:solidFill>
                <a:srgbClr val="5A2D82"/>
              </a:solidFill>
              <a:latin typeface="Calibri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2159569" y="35021520"/>
            <a:ext cx="4191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2200" b="0" i="0" dirty="0">
                <a:solidFill>
                  <a:srgbClr val="595959"/>
                </a:solidFill>
                <a:latin typeface="Calibri"/>
              </a:rPr>
              <a:t>D</a:t>
            </a:r>
            <a:r>
              <a:rPr sz="2200" b="0" i="0" dirty="0">
                <a:solidFill>
                  <a:srgbClr val="595959"/>
                </a:solidFill>
                <a:latin typeface="Calibri"/>
              </a:rPr>
              <a:t>efects</a:t>
            </a:r>
            <a:r>
              <a:rPr lang="en-US" sz="2200" b="0" i="0" dirty="0">
                <a:solidFill>
                  <a:srgbClr val="595959"/>
                </a:solidFill>
                <a:latin typeface="Calibri"/>
              </a:rPr>
              <a:t>/bugs</a:t>
            </a:r>
            <a:r>
              <a:rPr sz="2200" b="0" i="0" dirty="0">
                <a:solidFill>
                  <a:srgbClr val="595959"/>
                </a:solidFill>
                <a:latin typeface="Calibri"/>
              </a:rPr>
              <a:t> found &amp; fixed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899362" y="33649920"/>
            <a:ext cx="4556912" cy="2286000"/>
          </a:xfrm>
          <a:prstGeom prst="roundRect">
            <a:avLst>
              <a:gd name="adj" fmla="val 10000"/>
            </a:avLst>
          </a:prstGeom>
          <a:solidFill>
            <a:srgbClr val="F6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899362" y="33741360"/>
            <a:ext cx="4556912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600" b="1" i="0">
                <a:solidFill>
                  <a:srgbClr val="5A2D82"/>
                </a:solidFill>
                <a:latin typeface="Calibri"/>
              </a:rPr>
              <a:t>0.6 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082242" y="35021520"/>
            <a:ext cx="41911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595959"/>
                </a:solidFill>
                <a:latin typeface="Calibri"/>
              </a:rPr>
              <a:t>fail-fast when a relay is down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12039904" y="36164520"/>
          <a:ext cx="950976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21915424" y="36255960"/>
          <a:ext cx="9540849" cy="484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7720">
                <a:tc gridSpan="2"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Measured on the live system</a:t>
                      </a:r>
                    </a:p>
                  </a:txBody>
                  <a:tcPr marL="137160" marR="137160" anchor="ctr">
                    <a:solidFill>
                      <a:srgbClr val="28033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37160" marR="137160" anchor="ctr">
                    <a:solidFill>
                      <a:srgbClr val="2803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80334"/>
                          </a:solidFill>
                          <a:latin typeface="Calibri"/>
                        </a:rPr>
                        <a:t>Kill-switch leak test</a:t>
                      </a:r>
                    </a:p>
                  </a:txBody>
                  <a:tcPr marL="137160" marR="137160" anchor="ctr"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1F1F"/>
                          </a:solidFill>
                          <a:latin typeface="Calibri"/>
                        </a:rPr>
                        <a:t>0 requests leaked</a:t>
                      </a:r>
                    </a:p>
                  </a:txBody>
                  <a:tcPr marL="137160" marR="137160" anchor="ctr">
                    <a:solidFill>
                      <a:srgbClr val="F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80334"/>
                          </a:solidFill>
                          <a:latin typeface="Calibri"/>
                        </a:rPr>
                        <a:t>Disconnect, relay down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1F1F"/>
                          </a:solidFill>
                          <a:latin typeface="Calibri"/>
                        </a:rPr>
                        <a:t>0.6 s · session closed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80334"/>
                          </a:solidFill>
                          <a:latin typeface="Calibri"/>
                        </a:rPr>
                        <a:t>Connect, relay down</a:t>
                      </a:r>
                    </a:p>
                  </a:txBody>
                  <a:tcPr marL="137160" marR="137160" anchor="ctr"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1F1F"/>
                          </a:solidFill>
                          <a:latin typeface="Calibri"/>
                        </a:rPr>
                        <a:t>clear error in 0.6 s (was up to 100 s)</a:t>
                      </a:r>
                    </a:p>
                  </a:txBody>
                  <a:tcPr marL="137160" marR="137160" anchor="ctr">
                    <a:solidFill>
                      <a:srgbClr val="F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80334"/>
                          </a:solidFill>
                          <a:latin typeface="Calibri"/>
                        </a:rPr>
                        <a:t>Crash recovery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1F1F"/>
                          </a:solidFill>
                          <a:latin typeface="Calibri"/>
                        </a:rPr>
                        <a:t>leftovers removed, reconnect OK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80334"/>
                          </a:solidFill>
                          <a:latin typeface="Calibri"/>
                        </a:rPr>
                        <a:t>SSH tunnel killed</a:t>
                      </a:r>
                    </a:p>
                  </a:txBody>
                  <a:tcPr marL="137160" marR="137160" anchor="ctr"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1F1F1F"/>
                          </a:solidFill>
                          <a:latin typeface="Calibri"/>
                        </a:rPr>
                        <a:t>auto-restart in 10.6 s</a:t>
                      </a:r>
                    </a:p>
                  </a:txBody>
                  <a:tcPr marL="137160" marR="137160" anchor="ctr">
                    <a:solidFill>
                      <a:srgbClr val="F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914400" y="42153840"/>
            <a:ext cx="310896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595959"/>
                </a:solidFill>
                <a:latin typeface="Calibri"/>
              </a:rPr>
              <a:t>Source code: github.com/AbeuovDaniyar/SecureLinkVPN   ·   C# / .NET 8 · ASP.NET Core · PostgreSQL · WireGuard · Terraform · DigitalOcean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E7EDEFF-3EC7-1377-15B7-08651FF348B5}"/>
              </a:ext>
            </a:extLst>
          </p:cNvPr>
          <p:cNvSpPr/>
          <p:nvPr/>
        </p:nvSpPr>
        <p:spPr>
          <a:xfrm>
            <a:off x="1560379" y="39808403"/>
            <a:ext cx="566928" cy="566928"/>
          </a:xfrm>
          <a:prstGeom prst="ellipse">
            <a:avLst/>
          </a:prstGeom>
          <a:solidFill>
            <a:srgbClr val="5A2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2344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638</Words>
  <Application/>
  <PresentationFormat>Custom</PresentationFormat>
  <Paragraphs>87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10</cp:revision>
  <dcterms:created xsi:type="dcterms:W3CDTF">2018-09-14T20:10:55Z</dcterms:created>
  <dcterms:modified xsi:type="dcterms:W3CDTF">2026-09-27T17:29:18Z</dcterms:modified>
</cp:coreProperties>
</file>